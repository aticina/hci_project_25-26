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3" r:id="rId3"/>
    <p:sldId id="264" r:id="rId4"/>
    <p:sldId id="256" r:id="rId5"/>
    <p:sldId id="258" r:id="rId6"/>
    <p:sldId id="257" r:id="rId7"/>
    <p:sldId id="259" r:id="rId8"/>
    <p:sldId id="260" r:id="rId9"/>
    <p:sldId id="261" r:id="rId10"/>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riana Tičina" initials="AT" lastIdx="10" clrIdx="0">
    <p:extLst>
      <p:ext uri="{19B8F6BF-5375-455C-9EA6-DF929625EA0E}">
        <p15:presenceInfo xmlns:p15="http://schemas.microsoft.com/office/powerpoint/2012/main" userId="Adriana Tičin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BF7F4"/>
    <a:srgbClr val="B854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2-17T16:15:30.792" idx="1">
    <p:pos x="10" y="10"/>
    <p:text>Homepage (AFTER logging in)</p:text>
    <p:extLst>
      <p:ext uri="{C676402C-5697-4E1C-873F-D02D1690AC5C}">
        <p15:threadingInfo xmlns:p15="http://schemas.microsoft.com/office/powerpoint/2012/main" timeZoneBias="-60"/>
      </p:ext>
    </p:extLst>
  </p:cm>
  <p:cm authorId="1" dt="2025-12-17T16:16:12.772" idx="2">
    <p:pos x="146" y="146"/>
    <p:text>Search Bar je centralni feature/glavni feature na Homepageu. Zato je velikih dimenzija, centrirana, istaknuta crvenim obrubom od svijetle pozadine, oko sebe ima dosta praznog prostora. Ikona povećala i tekst u SearchBaru su affordances. Tekst iznad odmah daje do znanja korisniku što app radi i koje info treba dati aplikaciji (filteri će se ponuditi kad se klikne na search bar - pazi da se lako mogu odselektirati filteri bez ažuriranja stranice - npr. ako se klikne ne selektirani filter onda se filter primjenjuje, ako se klinke filter koji je već selektiran tada se taj filter odselektira i trebaš neki botun za potvrditi kad su svi filteri postavljeni).</p:text>
    <p:extLst>
      <p:ext uri="{C676402C-5697-4E1C-873F-D02D1690AC5C}">
        <p15:threadingInfo xmlns:p15="http://schemas.microsoft.com/office/powerpoint/2012/main" timeZoneBias="-60"/>
      </p:ext>
    </p:extLst>
  </p:cm>
  <p:cm authorId="1" dt="2025-12-17T16:29:42.801" idx="3">
    <p:pos x="282" y="282"/>
    <p:text>Logo i naziv app su standard (da korisnik razvije asocijaciju između korištenja aplikacije i imena te loga).</p:text>
    <p:extLst>
      <p:ext uri="{C676402C-5697-4E1C-873F-D02D1690AC5C}">
        <p15:threadingInfo xmlns:p15="http://schemas.microsoft.com/office/powerpoint/2012/main" timeZoneBias="-60"/>
      </p:ext>
    </p:extLst>
  </p:cm>
  <p:cm authorId="1" dt="2025-12-17T16:30:31.123" idx="4">
    <p:pos x="418" y="418"/>
    <p:text>Navigation buttons (ne mogu iskoristiti infinite edge jer je ovo web app). Crveni su i time lako uočljivi na svijetloj podlozi. Ne zaboravi dodati hover i selected efekte. Umjesto gear ikone koristimo Settings (jer ikone je moraju biti univerzalno poznate)</p:text>
    <p:extLst>
      <p:ext uri="{C676402C-5697-4E1C-873F-D02D1690AC5C}">
        <p15:threadingInfo xmlns:p15="http://schemas.microsoft.com/office/powerpoint/2012/main" timeZoneBias="-60"/>
      </p:ext>
    </p:extLst>
  </p:cm>
  <p:cm authorId="1" dt="2025-12-17T16:37:55.136" idx="5">
    <p:pos x="554" y="554"/>
    <p:text>Ispod, u periferiji zato što to nije glavni feature prema kojemu želimousmjeriti korisnika, je jednostavno pitanje koji eksplicitno govori korisniku da izabere samo 1 recept i prezentira dvije opcije-Hick's law. Dodaj opciju shuffle kojom osoba može ažurirati izbor jela na način da joj se predloži nešto drugo.</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5-12-17T16:43:44.366" idx="6">
    <p:pos x="10" y="10"/>
    <p:text>I dalje smo na Homepage(AFTER logging in) samo scrollano dole. Slike su same po sebi bitne jer ljudi "jedu i očima". Te labele na receptima su ok, čisto malo informativno za korisnika kako bi na temelju toga korisnik donio brzu odluku je li ga recept zanima ili ne. Klikom na recept(područje) otvara se manji tab(ne novi prozor) u kojem se nalazi još detalja i opcija da se recept doda na neku listu recepata ili da se ode u Cook Mode</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5-12-17T17:07:34.377" idx="7">
    <p:pos x="7507" y="0"/>
    <p:text>About Us page, crvenim okvirom ili boldanim dijelim tekstom vizualno naglasimo korisniku na kojoj je stranici, te naslovom također. Ovdje će ići paragraf dva o applikaciji, možda Q&amp;A i Contacts na dnu.</p:text>
    <p:extLst>
      <p:ext uri="{C676402C-5697-4E1C-873F-D02D1690AC5C}">
        <p15:threadingInfo xmlns:p15="http://schemas.microsoft.com/office/powerpoint/2012/main" timeZoneBias="-6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5-12-17T17:28:09.856" idx="9">
    <p:pos x="7332" y="1068"/>
    <p:text>Pretraga po naslovu posta, imenu korsnika, popularnosti(broju likeova), tagovima na receptu, prikaže 3 bloga.</p:text>
    <p:extLst>
      <p:ext uri="{C676402C-5697-4E1C-873F-D02D1690AC5C}">
        <p15:threadingInfo xmlns:p15="http://schemas.microsoft.com/office/powerpoint/2012/main" timeZoneBias="-6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5-12-17T17:37:31.069" idx="10">
    <p:pos x="7332" y="1068"/>
    <p:text>Slika profila, ime usera, id usera, kratki bio, opcija personalizacije aplikacije(npr.zapamti filtre koje korisnik voli koristiti-vegan, alergeni i slično), pregled kolekcija recepata. Provjeri što još treba</p:text>
    <p:extLst>
      <p:ext uri="{C676402C-5697-4E1C-873F-D02D1690AC5C}">
        <p15:threadingInfo xmlns:p15="http://schemas.microsoft.com/office/powerpoint/2012/main" timeZoneBias="-6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3ABCA050-6EF2-4355-B16C-72CE213539CD}"/>
              </a:ext>
            </a:extLst>
          </p:cNvPr>
          <p:cNvSpPr>
            <a:spLocks noGrp="1"/>
          </p:cNvSpPr>
          <p:nvPr>
            <p:ph type="ctrTitle"/>
          </p:nvPr>
        </p:nvSpPr>
        <p:spPr>
          <a:xfrm>
            <a:off x="1524000" y="1122363"/>
            <a:ext cx="9144000" cy="2387600"/>
          </a:xfrm>
        </p:spPr>
        <p:txBody>
          <a:bodyPr anchor="b"/>
          <a:lstStyle>
            <a:lvl1pPr algn="ctr">
              <a:defRPr sz="6000"/>
            </a:lvl1pPr>
          </a:lstStyle>
          <a:p>
            <a:r>
              <a:rPr lang="hr-HR"/>
              <a:t>Kliknite da biste uredili stil naslova matrice</a:t>
            </a:r>
          </a:p>
        </p:txBody>
      </p:sp>
      <p:sp>
        <p:nvSpPr>
          <p:cNvPr id="3" name="Podnaslov 2">
            <a:extLst>
              <a:ext uri="{FF2B5EF4-FFF2-40B4-BE49-F238E27FC236}">
                <a16:creationId xmlns:a16="http://schemas.microsoft.com/office/drawing/2014/main" id="{D9CAE4D2-E8B9-4434-8110-D1E0891D92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a:t>Kliknite da biste uredili stil podnaslova matrice</a:t>
            </a:r>
          </a:p>
        </p:txBody>
      </p:sp>
      <p:sp>
        <p:nvSpPr>
          <p:cNvPr id="4" name="Rezervirano mjesto datuma 3">
            <a:extLst>
              <a:ext uri="{FF2B5EF4-FFF2-40B4-BE49-F238E27FC236}">
                <a16:creationId xmlns:a16="http://schemas.microsoft.com/office/drawing/2014/main" id="{06D9EF4A-9676-4A95-974A-9C5291F880AB}"/>
              </a:ext>
            </a:extLst>
          </p:cNvPr>
          <p:cNvSpPr>
            <a:spLocks noGrp="1"/>
          </p:cNvSpPr>
          <p:nvPr>
            <p:ph type="dt" sz="half" idx="10"/>
          </p:nvPr>
        </p:nvSpPr>
        <p:spPr/>
        <p:txBody>
          <a:bodyPr/>
          <a:lstStyle/>
          <a:p>
            <a:fld id="{34D07C0D-5845-46D1-9F2D-6BE9B372A312}" type="datetimeFigureOut">
              <a:rPr lang="hr-HR" smtClean="0"/>
              <a:t>17.12.2025.</a:t>
            </a:fld>
            <a:endParaRPr lang="hr-HR"/>
          </a:p>
        </p:txBody>
      </p:sp>
      <p:sp>
        <p:nvSpPr>
          <p:cNvPr id="5" name="Rezervirano mjesto podnožja 4">
            <a:extLst>
              <a:ext uri="{FF2B5EF4-FFF2-40B4-BE49-F238E27FC236}">
                <a16:creationId xmlns:a16="http://schemas.microsoft.com/office/drawing/2014/main" id="{1AC5B9B9-DBC2-4FE2-8241-F44B9F54B3E9}"/>
              </a:ext>
            </a:extLst>
          </p:cNvPr>
          <p:cNvSpPr>
            <a:spLocks noGrp="1"/>
          </p:cNvSpPr>
          <p:nvPr>
            <p:ph type="ftr" sz="quarter" idx="11"/>
          </p:nvPr>
        </p:nvSpPr>
        <p:spPr/>
        <p:txBody>
          <a:bodyPr/>
          <a:lstStyle/>
          <a:p>
            <a:endParaRPr lang="hr-HR"/>
          </a:p>
        </p:txBody>
      </p:sp>
      <p:sp>
        <p:nvSpPr>
          <p:cNvPr id="6" name="Rezervirano mjesto broja slajda 5">
            <a:extLst>
              <a:ext uri="{FF2B5EF4-FFF2-40B4-BE49-F238E27FC236}">
                <a16:creationId xmlns:a16="http://schemas.microsoft.com/office/drawing/2014/main" id="{19070333-D2E4-4C3D-9059-0F8018D755F7}"/>
              </a:ext>
            </a:extLst>
          </p:cNvPr>
          <p:cNvSpPr>
            <a:spLocks noGrp="1"/>
          </p:cNvSpPr>
          <p:nvPr>
            <p:ph type="sldNum" sz="quarter" idx="12"/>
          </p:nvPr>
        </p:nvSpPr>
        <p:spPr/>
        <p:txBody>
          <a:bodyPr/>
          <a:lstStyle/>
          <a:p>
            <a:fld id="{BA6112D9-CD36-4876-BDEB-B9101283AFD5}" type="slidenum">
              <a:rPr lang="hr-HR" smtClean="0"/>
              <a:t>‹#›</a:t>
            </a:fld>
            <a:endParaRPr lang="hr-HR"/>
          </a:p>
        </p:txBody>
      </p:sp>
    </p:spTree>
    <p:extLst>
      <p:ext uri="{BB962C8B-B14F-4D97-AF65-F5344CB8AC3E}">
        <p14:creationId xmlns:p14="http://schemas.microsoft.com/office/powerpoint/2010/main" val="1516015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50393622-9E39-4AAB-B92C-F0050D19FE36}"/>
              </a:ext>
            </a:extLst>
          </p:cNvPr>
          <p:cNvSpPr>
            <a:spLocks noGrp="1"/>
          </p:cNvSpPr>
          <p:nvPr>
            <p:ph type="title"/>
          </p:nvPr>
        </p:nvSpPr>
        <p:spPr/>
        <p:txBody>
          <a:bodyPr/>
          <a:lstStyle/>
          <a:p>
            <a:r>
              <a:rPr lang="hr-HR"/>
              <a:t>Kliknite da biste uredili stil naslova matrice</a:t>
            </a:r>
          </a:p>
        </p:txBody>
      </p:sp>
      <p:sp>
        <p:nvSpPr>
          <p:cNvPr id="3" name="Rezervirano mjesto sadržaja 2">
            <a:extLst>
              <a:ext uri="{FF2B5EF4-FFF2-40B4-BE49-F238E27FC236}">
                <a16:creationId xmlns:a16="http://schemas.microsoft.com/office/drawing/2014/main" id="{5C9B29F4-ECBF-4579-A81D-A545F8F04982}"/>
              </a:ext>
            </a:extLst>
          </p:cNvPr>
          <p:cNvSpPr>
            <a:spLocks noGrp="1"/>
          </p:cNvSpPr>
          <p:nvPr>
            <p:ph idx="1"/>
          </p:nvPr>
        </p:nvSpPr>
        <p:spPr/>
        <p:txBody>
          <a:body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4" name="Rezervirano mjesto datuma 3">
            <a:extLst>
              <a:ext uri="{FF2B5EF4-FFF2-40B4-BE49-F238E27FC236}">
                <a16:creationId xmlns:a16="http://schemas.microsoft.com/office/drawing/2014/main" id="{B2FC5D91-F74A-4571-8748-CDC2017895DF}"/>
              </a:ext>
            </a:extLst>
          </p:cNvPr>
          <p:cNvSpPr>
            <a:spLocks noGrp="1"/>
          </p:cNvSpPr>
          <p:nvPr>
            <p:ph type="dt" sz="half" idx="10"/>
          </p:nvPr>
        </p:nvSpPr>
        <p:spPr/>
        <p:txBody>
          <a:bodyPr/>
          <a:lstStyle/>
          <a:p>
            <a:fld id="{34D07C0D-5845-46D1-9F2D-6BE9B372A312}" type="datetimeFigureOut">
              <a:rPr lang="hr-HR" smtClean="0"/>
              <a:t>17.12.2025.</a:t>
            </a:fld>
            <a:endParaRPr lang="hr-HR"/>
          </a:p>
        </p:txBody>
      </p:sp>
      <p:sp>
        <p:nvSpPr>
          <p:cNvPr id="5" name="Rezervirano mjesto podnožja 4">
            <a:extLst>
              <a:ext uri="{FF2B5EF4-FFF2-40B4-BE49-F238E27FC236}">
                <a16:creationId xmlns:a16="http://schemas.microsoft.com/office/drawing/2014/main" id="{FBDB48AF-2B00-41E5-99C4-FBB7333F964E}"/>
              </a:ext>
            </a:extLst>
          </p:cNvPr>
          <p:cNvSpPr>
            <a:spLocks noGrp="1"/>
          </p:cNvSpPr>
          <p:nvPr>
            <p:ph type="ftr" sz="quarter" idx="11"/>
          </p:nvPr>
        </p:nvSpPr>
        <p:spPr/>
        <p:txBody>
          <a:bodyPr/>
          <a:lstStyle/>
          <a:p>
            <a:endParaRPr lang="hr-HR"/>
          </a:p>
        </p:txBody>
      </p:sp>
      <p:sp>
        <p:nvSpPr>
          <p:cNvPr id="6" name="Rezervirano mjesto broja slajda 5">
            <a:extLst>
              <a:ext uri="{FF2B5EF4-FFF2-40B4-BE49-F238E27FC236}">
                <a16:creationId xmlns:a16="http://schemas.microsoft.com/office/drawing/2014/main" id="{7299F2AD-6D37-47C0-8689-006FA5705EB0}"/>
              </a:ext>
            </a:extLst>
          </p:cNvPr>
          <p:cNvSpPr>
            <a:spLocks noGrp="1"/>
          </p:cNvSpPr>
          <p:nvPr>
            <p:ph type="sldNum" sz="quarter" idx="12"/>
          </p:nvPr>
        </p:nvSpPr>
        <p:spPr/>
        <p:txBody>
          <a:bodyPr/>
          <a:lstStyle/>
          <a:p>
            <a:fld id="{BA6112D9-CD36-4876-BDEB-B9101283AFD5}" type="slidenum">
              <a:rPr lang="hr-HR" smtClean="0"/>
              <a:t>‹#›</a:t>
            </a:fld>
            <a:endParaRPr lang="hr-HR"/>
          </a:p>
        </p:txBody>
      </p:sp>
    </p:spTree>
    <p:extLst>
      <p:ext uri="{BB962C8B-B14F-4D97-AF65-F5344CB8AC3E}">
        <p14:creationId xmlns:p14="http://schemas.microsoft.com/office/powerpoint/2010/main" val="1583636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aglavlje sekcije">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CDC2CE32-CFB5-457E-AF60-5E93A0149497}"/>
              </a:ext>
            </a:extLst>
          </p:cNvPr>
          <p:cNvSpPr>
            <a:spLocks noGrp="1"/>
          </p:cNvSpPr>
          <p:nvPr>
            <p:ph type="title"/>
          </p:nvPr>
        </p:nvSpPr>
        <p:spPr>
          <a:xfrm>
            <a:off x="831850" y="1709738"/>
            <a:ext cx="10515600" cy="2852737"/>
          </a:xfrm>
        </p:spPr>
        <p:txBody>
          <a:bodyPr anchor="b"/>
          <a:lstStyle>
            <a:lvl1pPr>
              <a:defRPr sz="6000"/>
            </a:lvl1pPr>
          </a:lstStyle>
          <a:p>
            <a:r>
              <a:rPr lang="hr-HR"/>
              <a:t>Kliknite da biste uredili stil naslova matrice</a:t>
            </a:r>
          </a:p>
        </p:txBody>
      </p:sp>
      <p:sp>
        <p:nvSpPr>
          <p:cNvPr id="3" name="Rezervirano mjesto teksta 2">
            <a:extLst>
              <a:ext uri="{FF2B5EF4-FFF2-40B4-BE49-F238E27FC236}">
                <a16:creationId xmlns:a16="http://schemas.microsoft.com/office/drawing/2014/main" id="{EDD0EF8B-0495-4ECC-9601-C06BB2E3D0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r-HR"/>
              <a:t>Uredite stilove teksta matrice</a:t>
            </a:r>
          </a:p>
        </p:txBody>
      </p:sp>
      <p:sp>
        <p:nvSpPr>
          <p:cNvPr id="4" name="Rezervirano mjesto datuma 3">
            <a:extLst>
              <a:ext uri="{FF2B5EF4-FFF2-40B4-BE49-F238E27FC236}">
                <a16:creationId xmlns:a16="http://schemas.microsoft.com/office/drawing/2014/main" id="{837AE3A7-4EF6-4451-9430-72CADB876D81}"/>
              </a:ext>
            </a:extLst>
          </p:cNvPr>
          <p:cNvSpPr>
            <a:spLocks noGrp="1"/>
          </p:cNvSpPr>
          <p:nvPr>
            <p:ph type="dt" sz="half" idx="10"/>
          </p:nvPr>
        </p:nvSpPr>
        <p:spPr/>
        <p:txBody>
          <a:bodyPr/>
          <a:lstStyle/>
          <a:p>
            <a:fld id="{34D07C0D-5845-46D1-9F2D-6BE9B372A312}" type="datetimeFigureOut">
              <a:rPr lang="hr-HR" smtClean="0"/>
              <a:t>17.12.2025.</a:t>
            </a:fld>
            <a:endParaRPr lang="hr-HR"/>
          </a:p>
        </p:txBody>
      </p:sp>
      <p:sp>
        <p:nvSpPr>
          <p:cNvPr id="5" name="Rezervirano mjesto podnožja 4">
            <a:extLst>
              <a:ext uri="{FF2B5EF4-FFF2-40B4-BE49-F238E27FC236}">
                <a16:creationId xmlns:a16="http://schemas.microsoft.com/office/drawing/2014/main" id="{29344F47-C04F-4C81-9D8A-32F994C1983D}"/>
              </a:ext>
            </a:extLst>
          </p:cNvPr>
          <p:cNvSpPr>
            <a:spLocks noGrp="1"/>
          </p:cNvSpPr>
          <p:nvPr>
            <p:ph type="ftr" sz="quarter" idx="11"/>
          </p:nvPr>
        </p:nvSpPr>
        <p:spPr/>
        <p:txBody>
          <a:bodyPr/>
          <a:lstStyle/>
          <a:p>
            <a:endParaRPr lang="hr-HR"/>
          </a:p>
        </p:txBody>
      </p:sp>
      <p:sp>
        <p:nvSpPr>
          <p:cNvPr id="6" name="Rezervirano mjesto broja slajda 5">
            <a:extLst>
              <a:ext uri="{FF2B5EF4-FFF2-40B4-BE49-F238E27FC236}">
                <a16:creationId xmlns:a16="http://schemas.microsoft.com/office/drawing/2014/main" id="{F46DC4BC-5347-4114-B27D-97BC075555A1}"/>
              </a:ext>
            </a:extLst>
          </p:cNvPr>
          <p:cNvSpPr>
            <a:spLocks noGrp="1"/>
          </p:cNvSpPr>
          <p:nvPr>
            <p:ph type="sldNum" sz="quarter" idx="12"/>
          </p:nvPr>
        </p:nvSpPr>
        <p:spPr/>
        <p:txBody>
          <a:bodyPr/>
          <a:lstStyle/>
          <a:p>
            <a:fld id="{BA6112D9-CD36-4876-BDEB-B9101283AFD5}" type="slidenum">
              <a:rPr lang="hr-HR" smtClean="0"/>
              <a:t>‹#›</a:t>
            </a:fld>
            <a:endParaRPr lang="hr-HR"/>
          </a:p>
        </p:txBody>
      </p:sp>
    </p:spTree>
    <p:extLst>
      <p:ext uri="{BB962C8B-B14F-4D97-AF65-F5344CB8AC3E}">
        <p14:creationId xmlns:p14="http://schemas.microsoft.com/office/powerpoint/2010/main" val="3501001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3022B976-2EC0-477C-8277-83FBE62B4847}"/>
              </a:ext>
            </a:extLst>
          </p:cNvPr>
          <p:cNvSpPr>
            <a:spLocks noGrp="1"/>
          </p:cNvSpPr>
          <p:nvPr>
            <p:ph type="title"/>
          </p:nvPr>
        </p:nvSpPr>
        <p:spPr/>
        <p:txBody>
          <a:bodyPr/>
          <a:lstStyle/>
          <a:p>
            <a:r>
              <a:rPr lang="hr-HR"/>
              <a:t>Kliknite da biste uredili stil naslova matrice</a:t>
            </a:r>
          </a:p>
        </p:txBody>
      </p:sp>
      <p:sp>
        <p:nvSpPr>
          <p:cNvPr id="3" name="Rezervirano mjesto sadržaja 2">
            <a:extLst>
              <a:ext uri="{FF2B5EF4-FFF2-40B4-BE49-F238E27FC236}">
                <a16:creationId xmlns:a16="http://schemas.microsoft.com/office/drawing/2014/main" id="{DF69671A-F3B5-4A54-AB47-56000FA46F01}"/>
              </a:ext>
            </a:extLst>
          </p:cNvPr>
          <p:cNvSpPr>
            <a:spLocks noGrp="1"/>
          </p:cNvSpPr>
          <p:nvPr>
            <p:ph sz="half" idx="1"/>
          </p:nvPr>
        </p:nvSpPr>
        <p:spPr>
          <a:xfrm>
            <a:off x="838200" y="1825625"/>
            <a:ext cx="5181600" cy="4351338"/>
          </a:xfrm>
        </p:spPr>
        <p:txBody>
          <a:body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4" name="Rezervirano mjesto sadržaja 3">
            <a:extLst>
              <a:ext uri="{FF2B5EF4-FFF2-40B4-BE49-F238E27FC236}">
                <a16:creationId xmlns:a16="http://schemas.microsoft.com/office/drawing/2014/main" id="{0D260795-6E9F-40E5-B0DF-DF02C22344CB}"/>
              </a:ext>
            </a:extLst>
          </p:cNvPr>
          <p:cNvSpPr>
            <a:spLocks noGrp="1"/>
          </p:cNvSpPr>
          <p:nvPr>
            <p:ph sz="half" idx="2"/>
          </p:nvPr>
        </p:nvSpPr>
        <p:spPr>
          <a:xfrm>
            <a:off x="6172200" y="1825625"/>
            <a:ext cx="5181600" cy="4351338"/>
          </a:xfrm>
        </p:spPr>
        <p:txBody>
          <a:body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5" name="Rezervirano mjesto datuma 4">
            <a:extLst>
              <a:ext uri="{FF2B5EF4-FFF2-40B4-BE49-F238E27FC236}">
                <a16:creationId xmlns:a16="http://schemas.microsoft.com/office/drawing/2014/main" id="{B1CE6276-B9A7-4EAA-903C-394F241E83E8}"/>
              </a:ext>
            </a:extLst>
          </p:cNvPr>
          <p:cNvSpPr>
            <a:spLocks noGrp="1"/>
          </p:cNvSpPr>
          <p:nvPr>
            <p:ph type="dt" sz="half" idx="10"/>
          </p:nvPr>
        </p:nvSpPr>
        <p:spPr/>
        <p:txBody>
          <a:bodyPr/>
          <a:lstStyle/>
          <a:p>
            <a:fld id="{34D07C0D-5845-46D1-9F2D-6BE9B372A312}" type="datetimeFigureOut">
              <a:rPr lang="hr-HR" smtClean="0"/>
              <a:t>17.12.2025.</a:t>
            </a:fld>
            <a:endParaRPr lang="hr-HR"/>
          </a:p>
        </p:txBody>
      </p:sp>
      <p:sp>
        <p:nvSpPr>
          <p:cNvPr id="6" name="Rezervirano mjesto podnožja 5">
            <a:extLst>
              <a:ext uri="{FF2B5EF4-FFF2-40B4-BE49-F238E27FC236}">
                <a16:creationId xmlns:a16="http://schemas.microsoft.com/office/drawing/2014/main" id="{B2F5DDD9-9218-48AC-BFFA-DE7F41892B1A}"/>
              </a:ext>
            </a:extLst>
          </p:cNvPr>
          <p:cNvSpPr>
            <a:spLocks noGrp="1"/>
          </p:cNvSpPr>
          <p:nvPr>
            <p:ph type="ftr" sz="quarter" idx="11"/>
          </p:nvPr>
        </p:nvSpPr>
        <p:spPr/>
        <p:txBody>
          <a:bodyPr/>
          <a:lstStyle/>
          <a:p>
            <a:endParaRPr lang="hr-HR"/>
          </a:p>
        </p:txBody>
      </p:sp>
      <p:sp>
        <p:nvSpPr>
          <p:cNvPr id="7" name="Rezervirano mjesto broja slajda 6">
            <a:extLst>
              <a:ext uri="{FF2B5EF4-FFF2-40B4-BE49-F238E27FC236}">
                <a16:creationId xmlns:a16="http://schemas.microsoft.com/office/drawing/2014/main" id="{48ED637B-BBBC-4247-8371-15A2AFD714DA}"/>
              </a:ext>
            </a:extLst>
          </p:cNvPr>
          <p:cNvSpPr>
            <a:spLocks noGrp="1"/>
          </p:cNvSpPr>
          <p:nvPr>
            <p:ph type="sldNum" sz="quarter" idx="12"/>
          </p:nvPr>
        </p:nvSpPr>
        <p:spPr/>
        <p:txBody>
          <a:bodyPr/>
          <a:lstStyle/>
          <a:p>
            <a:fld id="{BA6112D9-CD36-4876-BDEB-B9101283AFD5}" type="slidenum">
              <a:rPr lang="hr-HR" smtClean="0"/>
              <a:t>‹#›</a:t>
            </a:fld>
            <a:endParaRPr lang="hr-HR"/>
          </a:p>
        </p:txBody>
      </p:sp>
    </p:spTree>
    <p:extLst>
      <p:ext uri="{BB962C8B-B14F-4D97-AF65-F5344CB8AC3E}">
        <p14:creationId xmlns:p14="http://schemas.microsoft.com/office/powerpoint/2010/main" val="3518285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Usporedba">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E34F87C8-255E-4936-83FF-A536B05DB07E}"/>
              </a:ext>
            </a:extLst>
          </p:cNvPr>
          <p:cNvSpPr>
            <a:spLocks noGrp="1"/>
          </p:cNvSpPr>
          <p:nvPr>
            <p:ph type="title"/>
          </p:nvPr>
        </p:nvSpPr>
        <p:spPr>
          <a:xfrm>
            <a:off x="839788" y="365125"/>
            <a:ext cx="10515600" cy="1325563"/>
          </a:xfrm>
        </p:spPr>
        <p:txBody>
          <a:bodyPr/>
          <a:lstStyle/>
          <a:p>
            <a:r>
              <a:rPr lang="hr-HR"/>
              <a:t>Kliknite da biste uredili stil naslova matrice</a:t>
            </a:r>
          </a:p>
        </p:txBody>
      </p:sp>
      <p:sp>
        <p:nvSpPr>
          <p:cNvPr id="3" name="Rezervirano mjesto teksta 2">
            <a:extLst>
              <a:ext uri="{FF2B5EF4-FFF2-40B4-BE49-F238E27FC236}">
                <a16:creationId xmlns:a16="http://schemas.microsoft.com/office/drawing/2014/main" id="{2746FAFB-0408-4D93-91D1-B36E6F175F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r-HR"/>
              <a:t>Uredite stilove teksta matrice</a:t>
            </a:r>
          </a:p>
        </p:txBody>
      </p:sp>
      <p:sp>
        <p:nvSpPr>
          <p:cNvPr id="4" name="Rezervirano mjesto sadržaja 3">
            <a:extLst>
              <a:ext uri="{FF2B5EF4-FFF2-40B4-BE49-F238E27FC236}">
                <a16:creationId xmlns:a16="http://schemas.microsoft.com/office/drawing/2014/main" id="{5A86A80E-B3F0-4285-AF32-5C93AE6946A1}"/>
              </a:ext>
            </a:extLst>
          </p:cNvPr>
          <p:cNvSpPr>
            <a:spLocks noGrp="1"/>
          </p:cNvSpPr>
          <p:nvPr>
            <p:ph sz="half" idx="2"/>
          </p:nvPr>
        </p:nvSpPr>
        <p:spPr>
          <a:xfrm>
            <a:off x="839788" y="2505075"/>
            <a:ext cx="5157787" cy="3684588"/>
          </a:xfrm>
        </p:spPr>
        <p:txBody>
          <a:body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5" name="Rezervirano mjesto teksta 4">
            <a:extLst>
              <a:ext uri="{FF2B5EF4-FFF2-40B4-BE49-F238E27FC236}">
                <a16:creationId xmlns:a16="http://schemas.microsoft.com/office/drawing/2014/main" id="{62C45446-FE68-4690-AFEA-BAFBCE6D71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r-HR"/>
              <a:t>Uredite stilove teksta matrice</a:t>
            </a:r>
          </a:p>
        </p:txBody>
      </p:sp>
      <p:sp>
        <p:nvSpPr>
          <p:cNvPr id="6" name="Rezervirano mjesto sadržaja 5">
            <a:extLst>
              <a:ext uri="{FF2B5EF4-FFF2-40B4-BE49-F238E27FC236}">
                <a16:creationId xmlns:a16="http://schemas.microsoft.com/office/drawing/2014/main" id="{24E1C214-72E2-4299-970C-8922820D002B}"/>
              </a:ext>
            </a:extLst>
          </p:cNvPr>
          <p:cNvSpPr>
            <a:spLocks noGrp="1"/>
          </p:cNvSpPr>
          <p:nvPr>
            <p:ph sz="quarter" idx="4"/>
          </p:nvPr>
        </p:nvSpPr>
        <p:spPr>
          <a:xfrm>
            <a:off x="6172200" y="2505075"/>
            <a:ext cx="5183188" cy="3684588"/>
          </a:xfrm>
        </p:spPr>
        <p:txBody>
          <a:body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7" name="Rezervirano mjesto datuma 6">
            <a:extLst>
              <a:ext uri="{FF2B5EF4-FFF2-40B4-BE49-F238E27FC236}">
                <a16:creationId xmlns:a16="http://schemas.microsoft.com/office/drawing/2014/main" id="{8194F0C6-357B-4492-B325-BAD90567F5C6}"/>
              </a:ext>
            </a:extLst>
          </p:cNvPr>
          <p:cNvSpPr>
            <a:spLocks noGrp="1"/>
          </p:cNvSpPr>
          <p:nvPr>
            <p:ph type="dt" sz="half" idx="10"/>
          </p:nvPr>
        </p:nvSpPr>
        <p:spPr/>
        <p:txBody>
          <a:bodyPr/>
          <a:lstStyle/>
          <a:p>
            <a:fld id="{34D07C0D-5845-46D1-9F2D-6BE9B372A312}" type="datetimeFigureOut">
              <a:rPr lang="hr-HR" smtClean="0"/>
              <a:t>17.12.2025.</a:t>
            </a:fld>
            <a:endParaRPr lang="hr-HR"/>
          </a:p>
        </p:txBody>
      </p:sp>
      <p:sp>
        <p:nvSpPr>
          <p:cNvPr id="8" name="Rezervirano mjesto podnožja 7">
            <a:extLst>
              <a:ext uri="{FF2B5EF4-FFF2-40B4-BE49-F238E27FC236}">
                <a16:creationId xmlns:a16="http://schemas.microsoft.com/office/drawing/2014/main" id="{6D714F66-F366-4390-92F6-F0655CDE9A35}"/>
              </a:ext>
            </a:extLst>
          </p:cNvPr>
          <p:cNvSpPr>
            <a:spLocks noGrp="1"/>
          </p:cNvSpPr>
          <p:nvPr>
            <p:ph type="ftr" sz="quarter" idx="11"/>
          </p:nvPr>
        </p:nvSpPr>
        <p:spPr/>
        <p:txBody>
          <a:bodyPr/>
          <a:lstStyle/>
          <a:p>
            <a:endParaRPr lang="hr-HR"/>
          </a:p>
        </p:txBody>
      </p:sp>
      <p:sp>
        <p:nvSpPr>
          <p:cNvPr id="9" name="Rezervirano mjesto broja slajda 8">
            <a:extLst>
              <a:ext uri="{FF2B5EF4-FFF2-40B4-BE49-F238E27FC236}">
                <a16:creationId xmlns:a16="http://schemas.microsoft.com/office/drawing/2014/main" id="{5B6424C6-F94A-4062-9DB6-3DD21703DA86}"/>
              </a:ext>
            </a:extLst>
          </p:cNvPr>
          <p:cNvSpPr>
            <a:spLocks noGrp="1"/>
          </p:cNvSpPr>
          <p:nvPr>
            <p:ph type="sldNum" sz="quarter" idx="12"/>
          </p:nvPr>
        </p:nvSpPr>
        <p:spPr/>
        <p:txBody>
          <a:bodyPr/>
          <a:lstStyle/>
          <a:p>
            <a:fld id="{BA6112D9-CD36-4876-BDEB-B9101283AFD5}" type="slidenum">
              <a:rPr lang="hr-HR" smtClean="0"/>
              <a:t>‹#›</a:t>
            </a:fld>
            <a:endParaRPr lang="hr-HR"/>
          </a:p>
        </p:txBody>
      </p:sp>
    </p:spTree>
    <p:extLst>
      <p:ext uri="{BB962C8B-B14F-4D97-AF65-F5344CB8AC3E}">
        <p14:creationId xmlns:p14="http://schemas.microsoft.com/office/powerpoint/2010/main" val="1587205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amo naslov">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9018D9F0-2B2C-4C94-A424-28716BAF2B1C}"/>
              </a:ext>
            </a:extLst>
          </p:cNvPr>
          <p:cNvSpPr>
            <a:spLocks noGrp="1"/>
          </p:cNvSpPr>
          <p:nvPr>
            <p:ph type="title"/>
          </p:nvPr>
        </p:nvSpPr>
        <p:spPr/>
        <p:txBody>
          <a:bodyPr/>
          <a:lstStyle/>
          <a:p>
            <a:r>
              <a:rPr lang="hr-HR"/>
              <a:t>Kliknite da biste uredili stil naslova matrice</a:t>
            </a:r>
          </a:p>
        </p:txBody>
      </p:sp>
      <p:sp>
        <p:nvSpPr>
          <p:cNvPr id="3" name="Rezervirano mjesto datuma 2">
            <a:extLst>
              <a:ext uri="{FF2B5EF4-FFF2-40B4-BE49-F238E27FC236}">
                <a16:creationId xmlns:a16="http://schemas.microsoft.com/office/drawing/2014/main" id="{2666890D-2AC3-4686-883F-A709F45B7667}"/>
              </a:ext>
            </a:extLst>
          </p:cNvPr>
          <p:cNvSpPr>
            <a:spLocks noGrp="1"/>
          </p:cNvSpPr>
          <p:nvPr>
            <p:ph type="dt" sz="half" idx="10"/>
          </p:nvPr>
        </p:nvSpPr>
        <p:spPr/>
        <p:txBody>
          <a:bodyPr/>
          <a:lstStyle/>
          <a:p>
            <a:fld id="{34D07C0D-5845-46D1-9F2D-6BE9B372A312}" type="datetimeFigureOut">
              <a:rPr lang="hr-HR" smtClean="0"/>
              <a:t>17.12.2025.</a:t>
            </a:fld>
            <a:endParaRPr lang="hr-HR"/>
          </a:p>
        </p:txBody>
      </p:sp>
      <p:sp>
        <p:nvSpPr>
          <p:cNvPr id="4" name="Rezervirano mjesto podnožja 3">
            <a:extLst>
              <a:ext uri="{FF2B5EF4-FFF2-40B4-BE49-F238E27FC236}">
                <a16:creationId xmlns:a16="http://schemas.microsoft.com/office/drawing/2014/main" id="{6E04ED51-1370-4C12-BE4E-B4B481CF2A2D}"/>
              </a:ext>
            </a:extLst>
          </p:cNvPr>
          <p:cNvSpPr>
            <a:spLocks noGrp="1"/>
          </p:cNvSpPr>
          <p:nvPr>
            <p:ph type="ftr" sz="quarter" idx="11"/>
          </p:nvPr>
        </p:nvSpPr>
        <p:spPr/>
        <p:txBody>
          <a:bodyPr/>
          <a:lstStyle/>
          <a:p>
            <a:endParaRPr lang="hr-HR"/>
          </a:p>
        </p:txBody>
      </p:sp>
      <p:sp>
        <p:nvSpPr>
          <p:cNvPr id="5" name="Rezervirano mjesto broja slajda 4">
            <a:extLst>
              <a:ext uri="{FF2B5EF4-FFF2-40B4-BE49-F238E27FC236}">
                <a16:creationId xmlns:a16="http://schemas.microsoft.com/office/drawing/2014/main" id="{EA7B961A-24B4-42DA-8407-992D4641EC1C}"/>
              </a:ext>
            </a:extLst>
          </p:cNvPr>
          <p:cNvSpPr>
            <a:spLocks noGrp="1"/>
          </p:cNvSpPr>
          <p:nvPr>
            <p:ph type="sldNum" sz="quarter" idx="12"/>
          </p:nvPr>
        </p:nvSpPr>
        <p:spPr/>
        <p:txBody>
          <a:bodyPr/>
          <a:lstStyle/>
          <a:p>
            <a:fld id="{BA6112D9-CD36-4876-BDEB-B9101283AFD5}" type="slidenum">
              <a:rPr lang="hr-HR" smtClean="0"/>
              <a:t>‹#›</a:t>
            </a:fld>
            <a:endParaRPr lang="hr-HR"/>
          </a:p>
        </p:txBody>
      </p:sp>
    </p:spTree>
    <p:extLst>
      <p:ext uri="{BB962C8B-B14F-4D97-AF65-F5344CB8AC3E}">
        <p14:creationId xmlns:p14="http://schemas.microsoft.com/office/powerpoint/2010/main" val="1857441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azno">
    <p:spTree>
      <p:nvGrpSpPr>
        <p:cNvPr id="1" name=""/>
        <p:cNvGrpSpPr/>
        <p:nvPr/>
      </p:nvGrpSpPr>
      <p:grpSpPr>
        <a:xfrm>
          <a:off x="0" y="0"/>
          <a:ext cx="0" cy="0"/>
          <a:chOff x="0" y="0"/>
          <a:chExt cx="0" cy="0"/>
        </a:xfrm>
      </p:grpSpPr>
      <p:sp>
        <p:nvSpPr>
          <p:cNvPr id="2" name="Rezervirano mjesto datuma 1">
            <a:extLst>
              <a:ext uri="{FF2B5EF4-FFF2-40B4-BE49-F238E27FC236}">
                <a16:creationId xmlns:a16="http://schemas.microsoft.com/office/drawing/2014/main" id="{00997B42-069E-4156-A7DD-227D9ECC9BE5}"/>
              </a:ext>
            </a:extLst>
          </p:cNvPr>
          <p:cNvSpPr>
            <a:spLocks noGrp="1"/>
          </p:cNvSpPr>
          <p:nvPr>
            <p:ph type="dt" sz="half" idx="10"/>
          </p:nvPr>
        </p:nvSpPr>
        <p:spPr/>
        <p:txBody>
          <a:bodyPr/>
          <a:lstStyle/>
          <a:p>
            <a:fld id="{34D07C0D-5845-46D1-9F2D-6BE9B372A312}" type="datetimeFigureOut">
              <a:rPr lang="hr-HR" smtClean="0"/>
              <a:t>17.12.2025.</a:t>
            </a:fld>
            <a:endParaRPr lang="hr-HR"/>
          </a:p>
        </p:txBody>
      </p:sp>
      <p:sp>
        <p:nvSpPr>
          <p:cNvPr id="3" name="Rezervirano mjesto podnožja 2">
            <a:extLst>
              <a:ext uri="{FF2B5EF4-FFF2-40B4-BE49-F238E27FC236}">
                <a16:creationId xmlns:a16="http://schemas.microsoft.com/office/drawing/2014/main" id="{7C191733-F52B-4803-A13A-58650EA4055E}"/>
              </a:ext>
            </a:extLst>
          </p:cNvPr>
          <p:cNvSpPr>
            <a:spLocks noGrp="1"/>
          </p:cNvSpPr>
          <p:nvPr>
            <p:ph type="ftr" sz="quarter" idx="11"/>
          </p:nvPr>
        </p:nvSpPr>
        <p:spPr/>
        <p:txBody>
          <a:bodyPr/>
          <a:lstStyle/>
          <a:p>
            <a:endParaRPr lang="hr-HR"/>
          </a:p>
        </p:txBody>
      </p:sp>
      <p:sp>
        <p:nvSpPr>
          <p:cNvPr id="4" name="Rezervirano mjesto broja slajda 3">
            <a:extLst>
              <a:ext uri="{FF2B5EF4-FFF2-40B4-BE49-F238E27FC236}">
                <a16:creationId xmlns:a16="http://schemas.microsoft.com/office/drawing/2014/main" id="{DBD74D1A-596B-406E-AA1D-3F1BF155D634}"/>
              </a:ext>
            </a:extLst>
          </p:cNvPr>
          <p:cNvSpPr>
            <a:spLocks noGrp="1"/>
          </p:cNvSpPr>
          <p:nvPr>
            <p:ph type="sldNum" sz="quarter" idx="12"/>
          </p:nvPr>
        </p:nvSpPr>
        <p:spPr/>
        <p:txBody>
          <a:bodyPr/>
          <a:lstStyle/>
          <a:p>
            <a:fld id="{BA6112D9-CD36-4876-BDEB-B9101283AFD5}" type="slidenum">
              <a:rPr lang="hr-HR" smtClean="0"/>
              <a:t>‹#›</a:t>
            </a:fld>
            <a:endParaRPr lang="hr-HR"/>
          </a:p>
        </p:txBody>
      </p:sp>
    </p:spTree>
    <p:extLst>
      <p:ext uri="{BB962C8B-B14F-4D97-AF65-F5344CB8AC3E}">
        <p14:creationId xmlns:p14="http://schemas.microsoft.com/office/powerpoint/2010/main" val="1643437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Sadržaj s opisom">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79F9A71F-FC85-4C2C-BE6F-2DB9D9CF2E54}"/>
              </a:ext>
            </a:extLst>
          </p:cNvPr>
          <p:cNvSpPr>
            <a:spLocks noGrp="1"/>
          </p:cNvSpPr>
          <p:nvPr>
            <p:ph type="title"/>
          </p:nvPr>
        </p:nvSpPr>
        <p:spPr>
          <a:xfrm>
            <a:off x="839788" y="457200"/>
            <a:ext cx="3932237" cy="1600200"/>
          </a:xfrm>
        </p:spPr>
        <p:txBody>
          <a:bodyPr anchor="b"/>
          <a:lstStyle>
            <a:lvl1pPr>
              <a:defRPr sz="3200"/>
            </a:lvl1pPr>
          </a:lstStyle>
          <a:p>
            <a:r>
              <a:rPr lang="hr-HR"/>
              <a:t>Kliknite da biste uredili stil naslova matrice</a:t>
            </a:r>
          </a:p>
        </p:txBody>
      </p:sp>
      <p:sp>
        <p:nvSpPr>
          <p:cNvPr id="3" name="Rezervirano mjesto sadržaja 2">
            <a:extLst>
              <a:ext uri="{FF2B5EF4-FFF2-40B4-BE49-F238E27FC236}">
                <a16:creationId xmlns:a16="http://schemas.microsoft.com/office/drawing/2014/main" id="{5D09D769-3FCF-42B8-BC66-C51D637C3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4" name="Rezervirano mjesto teksta 3">
            <a:extLst>
              <a:ext uri="{FF2B5EF4-FFF2-40B4-BE49-F238E27FC236}">
                <a16:creationId xmlns:a16="http://schemas.microsoft.com/office/drawing/2014/main" id="{45F622E5-DC88-4304-B582-9B1F7C7F7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r-HR"/>
              <a:t>Uredite stilove teksta matrice</a:t>
            </a:r>
          </a:p>
        </p:txBody>
      </p:sp>
      <p:sp>
        <p:nvSpPr>
          <p:cNvPr id="5" name="Rezervirano mjesto datuma 4">
            <a:extLst>
              <a:ext uri="{FF2B5EF4-FFF2-40B4-BE49-F238E27FC236}">
                <a16:creationId xmlns:a16="http://schemas.microsoft.com/office/drawing/2014/main" id="{444AB8E3-B1D9-4B56-9D5D-7E97ACFDF4DA}"/>
              </a:ext>
            </a:extLst>
          </p:cNvPr>
          <p:cNvSpPr>
            <a:spLocks noGrp="1"/>
          </p:cNvSpPr>
          <p:nvPr>
            <p:ph type="dt" sz="half" idx="10"/>
          </p:nvPr>
        </p:nvSpPr>
        <p:spPr/>
        <p:txBody>
          <a:bodyPr/>
          <a:lstStyle/>
          <a:p>
            <a:fld id="{34D07C0D-5845-46D1-9F2D-6BE9B372A312}" type="datetimeFigureOut">
              <a:rPr lang="hr-HR" smtClean="0"/>
              <a:t>17.12.2025.</a:t>
            </a:fld>
            <a:endParaRPr lang="hr-HR"/>
          </a:p>
        </p:txBody>
      </p:sp>
      <p:sp>
        <p:nvSpPr>
          <p:cNvPr id="6" name="Rezervirano mjesto podnožja 5">
            <a:extLst>
              <a:ext uri="{FF2B5EF4-FFF2-40B4-BE49-F238E27FC236}">
                <a16:creationId xmlns:a16="http://schemas.microsoft.com/office/drawing/2014/main" id="{44BC34C7-AF4D-45D3-A120-09DA24327D93}"/>
              </a:ext>
            </a:extLst>
          </p:cNvPr>
          <p:cNvSpPr>
            <a:spLocks noGrp="1"/>
          </p:cNvSpPr>
          <p:nvPr>
            <p:ph type="ftr" sz="quarter" idx="11"/>
          </p:nvPr>
        </p:nvSpPr>
        <p:spPr/>
        <p:txBody>
          <a:bodyPr/>
          <a:lstStyle/>
          <a:p>
            <a:endParaRPr lang="hr-HR"/>
          </a:p>
        </p:txBody>
      </p:sp>
      <p:sp>
        <p:nvSpPr>
          <p:cNvPr id="7" name="Rezervirano mjesto broja slajda 6">
            <a:extLst>
              <a:ext uri="{FF2B5EF4-FFF2-40B4-BE49-F238E27FC236}">
                <a16:creationId xmlns:a16="http://schemas.microsoft.com/office/drawing/2014/main" id="{3B716EFF-6DBC-42D0-8429-3DEA84E79714}"/>
              </a:ext>
            </a:extLst>
          </p:cNvPr>
          <p:cNvSpPr>
            <a:spLocks noGrp="1"/>
          </p:cNvSpPr>
          <p:nvPr>
            <p:ph type="sldNum" sz="quarter" idx="12"/>
          </p:nvPr>
        </p:nvSpPr>
        <p:spPr/>
        <p:txBody>
          <a:bodyPr/>
          <a:lstStyle/>
          <a:p>
            <a:fld id="{BA6112D9-CD36-4876-BDEB-B9101283AFD5}" type="slidenum">
              <a:rPr lang="hr-HR" smtClean="0"/>
              <a:t>‹#›</a:t>
            </a:fld>
            <a:endParaRPr lang="hr-HR"/>
          </a:p>
        </p:txBody>
      </p:sp>
    </p:spTree>
    <p:extLst>
      <p:ext uri="{BB962C8B-B14F-4D97-AF65-F5344CB8AC3E}">
        <p14:creationId xmlns:p14="http://schemas.microsoft.com/office/powerpoint/2010/main" val="3046176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Slika s opisom">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3068F617-7A8D-490F-8615-FD785870D9A8}"/>
              </a:ext>
            </a:extLst>
          </p:cNvPr>
          <p:cNvSpPr>
            <a:spLocks noGrp="1"/>
          </p:cNvSpPr>
          <p:nvPr>
            <p:ph type="title"/>
          </p:nvPr>
        </p:nvSpPr>
        <p:spPr>
          <a:xfrm>
            <a:off x="839788" y="457200"/>
            <a:ext cx="3932237" cy="1600200"/>
          </a:xfrm>
        </p:spPr>
        <p:txBody>
          <a:bodyPr anchor="b"/>
          <a:lstStyle>
            <a:lvl1pPr>
              <a:defRPr sz="3200"/>
            </a:lvl1pPr>
          </a:lstStyle>
          <a:p>
            <a:r>
              <a:rPr lang="hr-HR"/>
              <a:t>Kliknite da biste uredili stil naslova matrice</a:t>
            </a:r>
          </a:p>
        </p:txBody>
      </p:sp>
      <p:sp>
        <p:nvSpPr>
          <p:cNvPr id="3" name="Rezervirano mjesto slike 2">
            <a:extLst>
              <a:ext uri="{FF2B5EF4-FFF2-40B4-BE49-F238E27FC236}">
                <a16:creationId xmlns:a16="http://schemas.microsoft.com/office/drawing/2014/main" id="{5320C045-E63D-40F1-89B8-9B7F76A7B1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r-HR"/>
          </a:p>
        </p:txBody>
      </p:sp>
      <p:sp>
        <p:nvSpPr>
          <p:cNvPr id="4" name="Rezervirano mjesto teksta 3">
            <a:extLst>
              <a:ext uri="{FF2B5EF4-FFF2-40B4-BE49-F238E27FC236}">
                <a16:creationId xmlns:a16="http://schemas.microsoft.com/office/drawing/2014/main" id="{DF5A4FC2-855A-449E-AEC8-6FE6DB74F9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r-HR"/>
              <a:t>Uredite stilove teksta matrice</a:t>
            </a:r>
          </a:p>
        </p:txBody>
      </p:sp>
      <p:sp>
        <p:nvSpPr>
          <p:cNvPr id="5" name="Rezervirano mjesto datuma 4">
            <a:extLst>
              <a:ext uri="{FF2B5EF4-FFF2-40B4-BE49-F238E27FC236}">
                <a16:creationId xmlns:a16="http://schemas.microsoft.com/office/drawing/2014/main" id="{76B7B586-2997-4216-9EA8-FF401D66631E}"/>
              </a:ext>
            </a:extLst>
          </p:cNvPr>
          <p:cNvSpPr>
            <a:spLocks noGrp="1"/>
          </p:cNvSpPr>
          <p:nvPr>
            <p:ph type="dt" sz="half" idx="10"/>
          </p:nvPr>
        </p:nvSpPr>
        <p:spPr/>
        <p:txBody>
          <a:bodyPr/>
          <a:lstStyle/>
          <a:p>
            <a:fld id="{34D07C0D-5845-46D1-9F2D-6BE9B372A312}" type="datetimeFigureOut">
              <a:rPr lang="hr-HR" smtClean="0"/>
              <a:t>17.12.2025.</a:t>
            </a:fld>
            <a:endParaRPr lang="hr-HR"/>
          </a:p>
        </p:txBody>
      </p:sp>
      <p:sp>
        <p:nvSpPr>
          <p:cNvPr id="6" name="Rezervirano mjesto podnožja 5">
            <a:extLst>
              <a:ext uri="{FF2B5EF4-FFF2-40B4-BE49-F238E27FC236}">
                <a16:creationId xmlns:a16="http://schemas.microsoft.com/office/drawing/2014/main" id="{FB396C59-3DF3-491A-B01B-807C925D2280}"/>
              </a:ext>
            </a:extLst>
          </p:cNvPr>
          <p:cNvSpPr>
            <a:spLocks noGrp="1"/>
          </p:cNvSpPr>
          <p:nvPr>
            <p:ph type="ftr" sz="quarter" idx="11"/>
          </p:nvPr>
        </p:nvSpPr>
        <p:spPr/>
        <p:txBody>
          <a:bodyPr/>
          <a:lstStyle/>
          <a:p>
            <a:endParaRPr lang="hr-HR"/>
          </a:p>
        </p:txBody>
      </p:sp>
      <p:sp>
        <p:nvSpPr>
          <p:cNvPr id="7" name="Rezervirano mjesto broja slajda 6">
            <a:extLst>
              <a:ext uri="{FF2B5EF4-FFF2-40B4-BE49-F238E27FC236}">
                <a16:creationId xmlns:a16="http://schemas.microsoft.com/office/drawing/2014/main" id="{0514F3CA-DF82-4014-B1BB-42514D466A15}"/>
              </a:ext>
            </a:extLst>
          </p:cNvPr>
          <p:cNvSpPr>
            <a:spLocks noGrp="1"/>
          </p:cNvSpPr>
          <p:nvPr>
            <p:ph type="sldNum" sz="quarter" idx="12"/>
          </p:nvPr>
        </p:nvSpPr>
        <p:spPr/>
        <p:txBody>
          <a:bodyPr/>
          <a:lstStyle/>
          <a:p>
            <a:fld id="{BA6112D9-CD36-4876-BDEB-B9101283AFD5}" type="slidenum">
              <a:rPr lang="hr-HR" smtClean="0"/>
              <a:t>‹#›</a:t>
            </a:fld>
            <a:endParaRPr lang="hr-HR"/>
          </a:p>
        </p:txBody>
      </p:sp>
    </p:spTree>
    <p:extLst>
      <p:ext uri="{BB962C8B-B14F-4D97-AF65-F5344CB8AC3E}">
        <p14:creationId xmlns:p14="http://schemas.microsoft.com/office/powerpoint/2010/main" val="2359335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slov i okomiti tekst">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B501A06F-7F63-46D5-AE94-D9341A062EAA}"/>
              </a:ext>
            </a:extLst>
          </p:cNvPr>
          <p:cNvSpPr>
            <a:spLocks noGrp="1"/>
          </p:cNvSpPr>
          <p:nvPr>
            <p:ph type="title"/>
          </p:nvPr>
        </p:nvSpPr>
        <p:spPr/>
        <p:txBody>
          <a:bodyPr/>
          <a:lstStyle/>
          <a:p>
            <a:r>
              <a:rPr lang="hr-HR"/>
              <a:t>Kliknite da biste uredili stil naslova matrice</a:t>
            </a:r>
          </a:p>
        </p:txBody>
      </p:sp>
      <p:sp>
        <p:nvSpPr>
          <p:cNvPr id="3" name="Rezervirano mjesto okomitog teksta 2">
            <a:extLst>
              <a:ext uri="{FF2B5EF4-FFF2-40B4-BE49-F238E27FC236}">
                <a16:creationId xmlns:a16="http://schemas.microsoft.com/office/drawing/2014/main" id="{29D1A192-7649-49EB-972D-685719DAD3E6}"/>
              </a:ext>
            </a:extLst>
          </p:cNvPr>
          <p:cNvSpPr>
            <a:spLocks noGrp="1"/>
          </p:cNvSpPr>
          <p:nvPr>
            <p:ph type="body" orient="vert" idx="1"/>
          </p:nvPr>
        </p:nvSpPr>
        <p:spPr/>
        <p:txBody>
          <a:bodyPr vert="eaVert"/>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4" name="Rezervirano mjesto datuma 3">
            <a:extLst>
              <a:ext uri="{FF2B5EF4-FFF2-40B4-BE49-F238E27FC236}">
                <a16:creationId xmlns:a16="http://schemas.microsoft.com/office/drawing/2014/main" id="{BAB9758B-1384-49FD-8256-B87554CA77FF}"/>
              </a:ext>
            </a:extLst>
          </p:cNvPr>
          <p:cNvSpPr>
            <a:spLocks noGrp="1"/>
          </p:cNvSpPr>
          <p:nvPr>
            <p:ph type="dt" sz="half" idx="10"/>
          </p:nvPr>
        </p:nvSpPr>
        <p:spPr/>
        <p:txBody>
          <a:bodyPr/>
          <a:lstStyle/>
          <a:p>
            <a:fld id="{34D07C0D-5845-46D1-9F2D-6BE9B372A312}" type="datetimeFigureOut">
              <a:rPr lang="hr-HR" smtClean="0"/>
              <a:t>17.12.2025.</a:t>
            </a:fld>
            <a:endParaRPr lang="hr-HR"/>
          </a:p>
        </p:txBody>
      </p:sp>
      <p:sp>
        <p:nvSpPr>
          <p:cNvPr id="5" name="Rezervirano mjesto podnožja 4">
            <a:extLst>
              <a:ext uri="{FF2B5EF4-FFF2-40B4-BE49-F238E27FC236}">
                <a16:creationId xmlns:a16="http://schemas.microsoft.com/office/drawing/2014/main" id="{59A2C0E2-D253-4B82-A0B5-4FD8DD16191A}"/>
              </a:ext>
            </a:extLst>
          </p:cNvPr>
          <p:cNvSpPr>
            <a:spLocks noGrp="1"/>
          </p:cNvSpPr>
          <p:nvPr>
            <p:ph type="ftr" sz="quarter" idx="11"/>
          </p:nvPr>
        </p:nvSpPr>
        <p:spPr/>
        <p:txBody>
          <a:bodyPr/>
          <a:lstStyle/>
          <a:p>
            <a:endParaRPr lang="hr-HR"/>
          </a:p>
        </p:txBody>
      </p:sp>
      <p:sp>
        <p:nvSpPr>
          <p:cNvPr id="6" name="Rezervirano mjesto broja slajda 5">
            <a:extLst>
              <a:ext uri="{FF2B5EF4-FFF2-40B4-BE49-F238E27FC236}">
                <a16:creationId xmlns:a16="http://schemas.microsoft.com/office/drawing/2014/main" id="{32A65729-1B9E-4ECE-BF3A-AAB1D740A730}"/>
              </a:ext>
            </a:extLst>
          </p:cNvPr>
          <p:cNvSpPr>
            <a:spLocks noGrp="1"/>
          </p:cNvSpPr>
          <p:nvPr>
            <p:ph type="sldNum" sz="quarter" idx="12"/>
          </p:nvPr>
        </p:nvSpPr>
        <p:spPr/>
        <p:txBody>
          <a:bodyPr/>
          <a:lstStyle/>
          <a:p>
            <a:fld id="{BA6112D9-CD36-4876-BDEB-B9101283AFD5}" type="slidenum">
              <a:rPr lang="hr-HR" smtClean="0"/>
              <a:t>‹#›</a:t>
            </a:fld>
            <a:endParaRPr lang="hr-HR"/>
          </a:p>
        </p:txBody>
      </p:sp>
    </p:spTree>
    <p:extLst>
      <p:ext uri="{BB962C8B-B14F-4D97-AF65-F5344CB8AC3E}">
        <p14:creationId xmlns:p14="http://schemas.microsoft.com/office/powerpoint/2010/main" val="1638511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Okomiti naslov i tekst">
    <p:spTree>
      <p:nvGrpSpPr>
        <p:cNvPr id="1" name=""/>
        <p:cNvGrpSpPr/>
        <p:nvPr/>
      </p:nvGrpSpPr>
      <p:grpSpPr>
        <a:xfrm>
          <a:off x="0" y="0"/>
          <a:ext cx="0" cy="0"/>
          <a:chOff x="0" y="0"/>
          <a:chExt cx="0" cy="0"/>
        </a:xfrm>
      </p:grpSpPr>
      <p:sp>
        <p:nvSpPr>
          <p:cNvPr id="2" name="Okomiti naslov 1">
            <a:extLst>
              <a:ext uri="{FF2B5EF4-FFF2-40B4-BE49-F238E27FC236}">
                <a16:creationId xmlns:a16="http://schemas.microsoft.com/office/drawing/2014/main" id="{CD28AEB6-4142-4C9D-A356-DB45AAFE9932}"/>
              </a:ext>
            </a:extLst>
          </p:cNvPr>
          <p:cNvSpPr>
            <a:spLocks noGrp="1"/>
          </p:cNvSpPr>
          <p:nvPr>
            <p:ph type="title" orient="vert"/>
          </p:nvPr>
        </p:nvSpPr>
        <p:spPr>
          <a:xfrm>
            <a:off x="8724900" y="365125"/>
            <a:ext cx="2628900" cy="5811838"/>
          </a:xfrm>
        </p:spPr>
        <p:txBody>
          <a:bodyPr vert="eaVert"/>
          <a:lstStyle/>
          <a:p>
            <a:r>
              <a:rPr lang="hr-HR"/>
              <a:t>Kliknite da biste uredili stil naslova matrice</a:t>
            </a:r>
          </a:p>
        </p:txBody>
      </p:sp>
      <p:sp>
        <p:nvSpPr>
          <p:cNvPr id="3" name="Rezervirano mjesto okomitog teksta 2">
            <a:extLst>
              <a:ext uri="{FF2B5EF4-FFF2-40B4-BE49-F238E27FC236}">
                <a16:creationId xmlns:a16="http://schemas.microsoft.com/office/drawing/2014/main" id="{8A6A60C1-BCDE-4D7A-98D7-A148C5C3DE58}"/>
              </a:ext>
            </a:extLst>
          </p:cNvPr>
          <p:cNvSpPr>
            <a:spLocks noGrp="1"/>
          </p:cNvSpPr>
          <p:nvPr>
            <p:ph type="body" orient="vert" idx="1"/>
          </p:nvPr>
        </p:nvSpPr>
        <p:spPr>
          <a:xfrm>
            <a:off x="838200" y="365125"/>
            <a:ext cx="7734300" cy="5811838"/>
          </a:xfrm>
        </p:spPr>
        <p:txBody>
          <a:bodyPr vert="eaVert"/>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4" name="Rezervirano mjesto datuma 3">
            <a:extLst>
              <a:ext uri="{FF2B5EF4-FFF2-40B4-BE49-F238E27FC236}">
                <a16:creationId xmlns:a16="http://schemas.microsoft.com/office/drawing/2014/main" id="{E435F79B-65D6-4A03-B774-5A5611F767CC}"/>
              </a:ext>
            </a:extLst>
          </p:cNvPr>
          <p:cNvSpPr>
            <a:spLocks noGrp="1"/>
          </p:cNvSpPr>
          <p:nvPr>
            <p:ph type="dt" sz="half" idx="10"/>
          </p:nvPr>
        </p:nvSpPr>
        <p:spPr/>
        <p:txBody>
          <a:bodyPr/>
          <a:lstStyle/>
          <a:p>
            <a:fld id="{34D07C0D-5845-46D1-9F2D-6BE9B372A312}" type="datetimeFigureOut">
              <a:rPr lang="hr-HR" smtClean="0"/>
              <a:t>17.12.2025.</a:t>
            </a:fld>
            <a:endParaRPr lang="hr-HR"/>
          </a:p>
        </p:txBody>
      </p:sp>
      <p:sp>
        <p:nvSpPr>
          <p:cNvPr id="5" name="Rezervirano mjesto podnožja 4">
            <a:extLst>
              <a:ext uri="{FF2B5EF4-FFF2-40B4-BE49-F238E27FC236}">
                <a16:creationId xmlns:a16="http://schemas.microsoft.com/office/drawing/2014/main" id="{F29AA098-B0FD-4858-B834-7F39A2197188}"/>
              </a:ext>
            </a:extLst>
          </p:cNvPr>
          <p:cNvSpPr>
            <a:spLocks noGrp="1"/>
          </p:cNvSpPr>
          <p:nvPr>
            <p:ph type="ftr" sz="quarter" idx="11"/>
          </p:nvPr>
        </p:nvSpPr>
        <p:spPr/>
        <p:txBody>
          <a:bodyPr/>
          <a:lstStyle/>
          <a:p>
            <a:endParaRPr lang="hr-HR"/>
          </a:p>
        </p:txBody>
      </p:sp>
      <p:sp>
        <p:nvSpPr>
          <p:cNvPr id="6" name="Rezervirano mjesto broja slajda 5">
            <a:extLst>
              <a:ext uri="{FF2B5EF4-FFF2-40B4-BE49-F238E27FC236}">
                <a16:creationId xmlns:a16="http://schemas.microsoft.com/office/drawing/2014/main" id="{B82A3AE8-07AE-4C2D-BD30-57A6993D15C1}"/>
              </a:ext>
            </a:extLst>
          </p:cNvPr>
          <p:cNvSpPr>
            <a:spLocks noGrp="1"/>
          </p:cNvSpPr>
          <p:nvPr>
            <p:ph type="sldNum" sz="quarter" idx="12"/>
          </p:nvPr>
        </p:nvSpPr>
        <p:spPr/>
        <p:txBody>
          <a:bodyPr/>
          <a:lstStyle/>
          <a:p>
            <a:fld id="{BA6112D9-CD36-4876-BDEB-B9101283AFD5}" type="slidenum">
              <a:rPr lang="hr-HR" smtClean="0"/>
              <a:t>‹#›</a:t>
            </a:fld>
            <a:endParaRPr lang="hr-HR"/>
          </a:p>
        </p:txBody>
      </p:sp>
    </p:spTree>
    <p:extLst>
      <p:ext uri="{BB962C8B-B14F-4D97-AF65-F5344CB8AC3E}">
        <p14:creationId xmlns:p14="http://schemas.microsoft.com/office/powerpoint/2010/main" val="2965090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C86C9E54-9573-49D8-96C7-FDE68EA92F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a:t>Kliknite da biste uredili stil naslova matrice</a:t>
            </a:r>
          </a:p>
        </p:txBody>
      </p:sp>
      <p:sp>
        <p:nvSpPr>
          <p:cNvPr id="3" name="Rezervirano mjesto teksta 2">
            <a:extLst>
              <a:ext uri="{FF2B5EF4-FFF2-40B4-BE49-F238E27FC236}">
                <a16:creationId xmlns:a16="http://schemas.microsoft.com/office/drawing/2014/main" id="{06BB953F-299D-4D88-8CF7-D4DEFA5369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p>
        </p:txBody>
      </p:sp>
      <p:sp>
        <p:nvSpPr>
          <p:cNvPr id="4" name="Rezervirano mjesto datuma 3">
            <a:extLst>
              <a:ext uri="{FF2B5EF4-FFF2-40B4-BE49-F238E27FC236}">
                <a16:creationId xmlns:a16="http://schemas.microsoft.com/office/drawing/2014/main" id="{0E5B8D33-7AE6-4FE4-BFEE-BD1A38410E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D07C0D-5845-46D1-9F2D-6BE9B372A312}" type="datetimeFigureOut">
              <a:rPr lang="hr-HR" smtClean="0"/>
              <a:t>17.12.2025.</a:t>
            </a:fld>
            <a:endParaRPr lang="hr-HR"/>
          </a:p>
        </p:txBody>
      </p:sp>
      <p:sp>
        <p:nvSpPr>
          <p:cNvPr id="5" name="Rezervirano mjesto podnožja 4">
            <a:extLst>
              <a:ext uri="{FF2B5EF4-FFF2-40B4-BE49-F238E27FC236}">
                <a16:creationId xmlns:a16="http://schemas.microsoft.com/office/drawing/2014/main" id="{2B967D8F-81FC-470C-890D-963F99A40F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a:extLst>
              <a:ext uri="{FF2B5EF4-FFF2-40B4-BE49-F238E27FC236}">
                <a16:creationId xmlns:a16="http://schemas.microsoft.com/office/drawing/2014/main" id="{77667235-3C26-482B-8C12-4422448A00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6112D9-CD36-4876-BDEB-B9101283AFD5}" type="slidenum">
              <a:rPr lang="hr-HR" smtClean="0"/>
              <a:t>‹#›</a:t>
            </a:fld>
            <a:endParaRPr lang="hr-HR"/>
          </a:p>
        </p:txBody>
      </p:sp>
    </p:spTree>
    <p:extLst>
      <p:ext uri="{BB962C8B-B14F-4D97-AF65-F5344CB8AC3E}">
        <p14:creationId xmlns:p14="http://schemas.microsoft.com/office/powerpoint/2010/main" val="4181027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dyslexiefont.com/en/"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comments" Target="../comments/comment4.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comments" Target="../comments/comment5.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kstniOkvir 4">
            <a:extLst>
              <a:ext uri="{FF2B5EF4-FFF2-40B4-BE49-F238E27FC236}">
                <a16:creationId xmlns:a16="http://schemas.microsoft.com/office/drawing/2014/main" id="{C60DB579-7D18-48A0-B27D-E130A0FFFE9A}"/>
              </a:ext>
            </a:extLst>
          </p:cNvPr>
          <p:cNvSpPr txBox="1"/>
          <p:nvPr/>
        </p:nvSpPr>
        <p:spPr>
          <a:xfrm>
            <a:off x="204486" y="173620"/>
            <a:ext cx="11783028" cy="5355312"/>
          </a:xfrm>
          <a:prstGeom prst="rect">
            <a:avLst/>
          </a:prstGeom>
          <a:noFill/>
        </p:spPr>
        <p:txBody>
          <a:bodyPr wrap="square" rtlCol="0">
            <a:spAutoFit/>
          </a:bodyPr>
          <a:lstStyle/>
          <a:p>
            <a:r>
              <a:rPr lang="hr-HR" dirty="0"/>
              <a:t>FONT: DYSLEXIE </a:t>
            </a:r>
            <a:r>
              <a:rPr lang="hr-HR" dirty="0">
                <a:hlinkClick r:id="rId2"/>
              </a:rPr>
              <a:t>https://dyslexiefont.com/en/</a:t>
            </a:r>
            <a:endParaRPr lang="hr-HR" dirty="0"/>
          </a:p>
          <a:p>
            <a:r>
              <a:rPr lang="hr-HR" dirty="0"/>
              <a:t>Zašto? Bolji </a:t>
            </a:r>
            <a:r>
              <a:rPr lang="hr-HR" dirty="0" err="1"/>
              <a:t>visibility</a:t>
            </a:r>
            <a:r>
              <a:rPr lang="hr-HR" dirty="0"/>
              <a:t> i </a:t>
            </a:r>
            <a:r>
              <a:rPr lang="hr-HR" dirty="0" err="1"/>
              <a:t>readablitiy</a:t>
            </a:r>
            <a:r>
              <a:rPr lang="hr-HR" dirty="0"/>
              <a:t>. Font ima dobar omjer opuštenosti, zabave i formalnosti (ne izgleda </a:t>
            </a:r>
            <a:r>
              <a:rPr lang="hr-HR" dirty="0" err="1"/>
              <a:t>dijetinjastvo</a:t>
            </a:r>
            <a:r>
              <a:rPr lang="hr-HR" dirty="0"/>
              <a:t>, načrčkano, neuredno; a opet nije prestrog, moderan, ne podsjeća na dokumentacije i urede, </a:t>
            </a:r>
            <a:r>
              <a:rPr lang="hr-HR" dirty="0" err="1"/>
              <a:t>levele</a:t>
            </a:r>
            <a:r>
              <a:rPr lang="hr-HR" dirty="0"/>
              <a:t> ozbiljnosti kao za doktore ili odvjetnike)</a:t>
            </a:r>
          </a:p>
          <a:p>
            <a:r>
              <a:rPr lang="hr-HR" dirty="0"/>
              <a:t>Treba li staviti </a:t>
            </a:r>
            <a:r>
              <a:rPr lang="hr-HR" dirty="0" err="1"/>
              <a:t>credits</a:t>
            </a:r>
            <a:r>
              <a:rPr lang="hr-HR" dirty="0"/>
              <a:t> za ovaj font negdje na stranici? Vjerojatno da, nisam sigurna gdje.</a:t>
            </a:r>
          </a:p>
          <a:p>
            <a:endParaRPr lang="hr-HR" dirty="0"/>
          </a:p>
          <a:p>
            <a:r>
              <a:rPr lang="hr-HR" dirty="0"/>
              <a:t>Boje: </a:t>
            </a:r>
            <a:r>
              <a:rPr lang="hr-HR" dirty="0" err="1"/>
              <a:t>Brick</a:t>
            </a:r>
            <a:r>
              <a:rPr lang="hr-HR" dirty="0"/>
              <a:t> red i </a:t>
            </a:r>
            <a:r>
              <a:rPr lang="hr-HR" dirty="0" err="1"/>
              <a:t>cream-whiteish</a:t>
            </a:r>
            <a:r>
              <a:rPr lang="hr-HR" dirty="0"/>
              <a:t>, </a:t>
            </a:r>
            <a:r>
              <a:rPr lang="hr-HR" dirty="0" err="1"/>
              <a:t>white</a:t>
            </a:r>
            <a:r>
              <a:rPr lang="hr-HR" dirty="0"/>
              <a:t>. Slično </a:t>
            </a:r>
            <a:r>
              <a:rPr lang="hr-HR" dirty="0" err="1"/>
              <a:t>Coolinarki</a:t>
            </a:r>
            <a:r>
              <a:rPr lang="hr-HR" dirty="0"/>
              <a:t>, ali blaža, </a:t>
            </a:r>
            <a:r>
              <a:rPr lang="hr-HR" dirty="0" err="1"/>
              <a:t>less</a:t>
            </a:r>
            <a:r>
              <a:rPr lang="hr-HR" dirty="0"/>
              <a:t> </a:t>
            </a:r>
            <a:r>
              <a:rPr lang="hr-HR" dirty="0" err="1"/>
              <a:t>saturated</a:t>
            </a:r>
            <a:r>
              <a:rPr lang="hr-HR" dirty="0"/>
              <a:t> crvena, tako da se ipak razlikuju. Mislim da nije loše imati asocijaciju na slične aplikacije. Samo dvije(tri boje) jedna je bijela što vizualno otvara stranicu (treba imati </a:t>
            </a:r>
            <a:r>
              <a:rPr lang="hr-HR" dirty="0" err="1"/>
              <a:t>dark</a:t>
            </a:r>
            <a:r>
              <a:rPr lang="hr-HR" dirty="0"/>
              <a:t> mode jer neki ljudi mrze bijelu pozadinu, taj </a:t>
            </a:r>
            <a:r>
              <a:rPr lang="hr-HR" dirty="0" err="1"/>
              <a:t>dark</a:t>
            </a:r>
            <a:r>
              <a:rPr lang="hr-HR" dirty="0"/>
              <a:t> može biti kao tamno smeđa i bijeli tekst), a crvena naglašava bitne </a:t>
            </a:r>
            <a:r>
              <a:rPr lang="hr-HR" dirty="0" err="1"/>
              <a:t>features</a:t>
            </a:r>
            <a:r>
              <a:rPr lang="hr-HR" dirty="0"/>
              <a:t> i unosi malo topline i žurnosti u sliku.</a:t>
            </a:r>
          </a:p>
          <a:p>
            <a:endParaRPr lang="hr-HR" dirty="0"/>
          </a:p>
          <a:p>
            <a:r>
              <a:rPr lang="hr-HR" dirty="0" err="1"/>
              <a:t>Fitt’s</a:t>
            </a:r>
            <a:r>
              <a:rPr lang="hr-HR" dirty="0"/>
              <a:t> </a:t>
            </a:r>
            <a:r>
              <a:rPr lang="hr-HR" dirty="0" err="1"/>
              <a:t>law</a:t>
            </a:r>
            <a:r>
              <a:rPr lang="hr-HR" dirty="0"/>
              <a:t> – veličina botuna je valjda ok, pazi na veličinu Like botuna na blogu(oni su često dosta sitni na stranicama), na formulare, mobilna verzija nastoji iskoristiti </a:t>
            </a:r>
            <a:r>
              <a:rPr lang="hr-HR" dirty="0" err="1"/>
              <a:t>infinite</a:t>
            </a:r>
            <a:r>
              <a:rPr lang="hr-HR" dirty="0"/>
              <a:t> </a:t>
            </a:r>
            <a:r>
              <a:rPr lang="hr-HR" dirty="0" err="1"/>
              <a:t>edge</a:t>
            </a:r>
            <a:r>
              <a:rPr lang="hr-HR" dirty="0"/>
              <a:t> (iako za web </a:t>
            </a:r>
            <a:r>
              <a:rPr lang="hr-HR" dirty="0" err="1"/>
              <a:t>app</a:t>
            </a:r>
            <a:r>
              <a:rPr lang="hr-HR" dirty="0"/>
              <a:t> je to teško izvedivo), no </a:t>
            </a:r>
            <a:r>
              <a:rPr lang="hr-HR" dirty="0" err="1"/>
              <a:t>path</a:t>
            </a:r>
            <a:r>
              <a:rPr lang="hr-HR" dirty="0"/>
              <a:t> </a:t>
            </a:r>
            <a:r>
              <a:rPr lang="hr-HR" dirty="0" err="1"/>
              <a:t>hack</a:t>
            </a:r>
            <a:r>
              <a:rPr lang="hr-HR" dirty="0"/>
              <a:t> um ne znam na što bi se moglo iskoristiti (možda kao </a:t>
            </a:r>
            <a:r>
              <a:rPr lang="hr-HR" dirty="0" err="1"/>
              <a:t>quick</a:t>
            </a:r>
            <a:r>
              <a:rPr lang="hr-HR" dirty="0"/>
              <a:t> </a:t>
            </a:r>
            <a:r>
              <a:rPr lang="hr-HR" dirty="0" err="1"/>
              <a:t>entry</a:t>
            </a:r>
            <a:r>
              <a:rPr lang="hr-HR" dirty="0"/>
              <a:t> za </a:t>
            </a:r>
            <a:r>
              <a:rPr lang="hr-HR" dirty="0" err="1"/>
              <a:t>cooking</a:t>
            </a:r>
            <a:r>
              <a:rPr lang="hr-HR" dirty="0"/>
              <a:t> mode ako se </a:t>
            </a:r>
            <a:r>
              <a:rPr lang="hr-HR" dirty="0" err="1"/>
              <a:t>hover</a:t>
            </a:r>
            <a:r>
              <a:rPr lang="hr-HR" dirty="0"/>
              <a:t>-a iznad recepta..? Iako za to će postojati botun i ljudi su navikli da im na web stranicama </a:t>
            </a:r>
            <a:r>
              <a:rPr lang="hr-HR" dirty="0" err="1"/>
              <a:t>right</a:t>
            </a:r>
            <a:r>
              <a:rPr lang="hr-HR" dirty="0"/>
              <a:t> </a:t>
            </a:r>
            <a:r>
              <a:rPr lang="hr-HR" dirty="0" err="1"/>
              <a:t>click</a:t>
            </a:r>
            <a:r>
              <a:rPr lang="hr-HR" dirty="0"/>
              <a:t> daje neke standardne opcije koje određuje browser)</a:t>
            </a:r>
          </a:p>
          <a:p>
            <a:endParaRPr lang="hr-HR" dirty="0"/>
          </a:p>
          <a:p>
            <a:r>
              <a:rPr lang="hr-HR" dirty="0" err="1"/>
              <a:t>Hick’s</a:t>
            </a:r>
            <a:r>
              <a:rPr lang="hr-HR" dirty="0"/>
              <a:t> </a:t>
            </a:r>
            <a:r>
              <a:rPr lang="hr-HR" dirty="0" err="1"/>
              <a:t>law</a:t>
            </a:r>
            <a:r>
              <a:rPr lang="hr-HR" dirty="0"/>
              <a:t> – samo 2 opcije za sve (osim Bloga jer ako netko ide do bloga onda je spreman na i očekuje više sadržaja) jer se pretpostavlja da korisnici ne žele previše misliti o opcijama (umor, brzina i slični razlozi).</a:t>
            </a:r>
          </a:p>
          <a:p>
            <a:endParaRPr lang="hr-HR" dirty="0"/>
          </a:p>
        </p:txBody>
      </p:sp>
    </p:spTree>
    <p:extLst>
      <p:ext uri="{BB962C8B-B14F-4D97-AF65-F5344CB8AC3E}">
        <p14:creationId xmlns:p14="http://schemas.microsoft.com/office/powerpoint/2010/main" val="2105824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033ABB34-024E-4877-AE21-446E6356E9DB}"/>
              </a:ext>
            </a:extLst>
          </p:cNvPr>
          <p:cNvSpPr>
            <a:spLocks noGrp="1"/>
          </p:cNvSpPr>
          <p:nvPr>
            <p:ph type="title"/>
          </p:nvPr>
        </p:nvSpPr>
        <p:spPr>
          <a:xfrm>
            <a:off x="0" y="0"/>
            <a:ext cx="11905861" cy="6251510"/>
          </a:xfrm>
        </p:spPr>
        <p:txBody>
          <a:bodyPr>
            <a:normAutofit/>
          </a:bodyPr>
          <a:lstStyle/>
          <a:p>
            <a:r>
              <a:rPr lang="hr-HR" sz="1800" dirty="0">
                <a:latin typeface="+mn-lt"/>
              </a:rPr>
              <a:t>CRAP </a:t>
            </a:r>
            <a:r>
              <a:rPr lang="hr-HR" sz="1800" dirty="0" err="1">
                <a:latin typeface="+mn-lt"/>
              </a:rPr>
              <a:t>Contrast</a:t>
            </a:r>
            <a:r>
              <a:rPr lang="hr-HR" sz="1800" dirty="0">
                <a:latin typeface="+mn-lt"/>
              </a:rPr>
              <a:t>, </a:t>
            </a:r>
            <a:r>
              <a:rPr lang="hr-HR" sz="1800" dirty="0" err="1">
                <a:latin typeface="+mn-lt"/>
              </a:rPr>
              <a:t>Repetition</a:t>
            </a:r>
            <a:r>
              <a:rPr lang="hr-HR" sz="1800" dirty="0">
                <a:latin typeface="+mn-lt"/>
              </a:rPr>
              <a:t>, </a:t>
            </a:r>
            <a:r>
              <a:rPr lang="hr-HR" sz="1800" dirty="0" err="1">
                <a:latin typeface="+mn-lt"/>
              </a:rPr>
              <a:t>Alignment</a:t>
            </a:r>
            <a:r>
              <a:rPr lang="hr-HR" sz="1800" dirty="0">
                <a:latin typeface="+mn-lt"/>
              </a:rPr>
              <a:t>, </a:t>
            </a:r>
            <a:r>
              <a:rPr lang="hr-HR" sz="1800" dirty="0" err="1">
                <a:latin typeface="+mn-lt"/>
              </a:rPr>
              <a:t>Proximity</a:t>
            </a:r>
            <a:br>
              <a:rPr lang="hr-HR" sz="1800" dirty="0">
                <a:latin typeface="+mn-lt"/>
              </a:rPr>
            </a:br>
            <a:br>
              <a:rPr lang="hr-HR" sz="1800" dirty="0">
                <a:latin typeface="+mn-lt"/>
              </a:rPr>
            </a:br>
            <a:r>
              <a:rPr lang="hr-HR" sz="1800" dirty="0" err="1">
                <a:latin typeface="+mn-lt"/>
              </a:rPr>
              <a:t>Contrast-Size</a:t>
            </a:r>
            <a:r>
              <a:rPr lang="hr-HR" sz="1800" dirty="0">
                <a:latin typeface="+mn-lt"/>
              </a:rPr>
              <a:t>(naslovi su uvijek veći od teksta, ako postoje tekstovi jednake važnosti onda trebaju biti jednako veliki) </a:t>
            </a:r>
            <a:br>
              <a:rPr lang="hr-HR" sz="1800" dirty="0">
                <a:latin typeface="+mn-lt"/>
              </a:rPr>
            </a:br>
            <a:r>
              <a:rPr lang="hr-HR" sz="1800" dirty="0" err="1">
                <a:latin typeface="+mn-lt"/>
              </a:rPr>
              <a:t>Color</a:t>
            </a:r>
            <a:r>
              <a:rPr lang="hr-HR" sz="1800" dirty="0">
                <a:latin typeface="+mn-lt"/>
              </a:rPr>
              <a:t>-nemam grupiranje po boji, samo jak kontrast, tj. Možda bi se moglo reći da postoji grupiranje donekle jer bitniji </a:t>
            </a:r>
            <a:r>
              <a:rPr lang="hr-HR" sz="1800" dirty="0" err="1">
                <a:latin typeface="+mn-lt"/>
              </a:rPr>
              <a:t>features</a:t>
            </a:r>
            <a:r>
              <a:rPr lang="hr-HR" sz="1800" dirty="0">
                <a:latin typeface="+mn-lt"/>
              </a:rPr>
              <a:t> imaju više crvene</a:t>
            </a:r>
            <a:br>
              <a:rPr lang="hr-HR" sz="1800" dirty="0">
                <a:latin typeface="+mn-lt"/>
              </a:rPr>
            </a:br>
            <a:r>
              <a:rPr lang="hr-HR" sz="1800" dirty="0">
                <a:latin typeface="+mn-lt"/>
              </a:rPr>
              <a:t>Font-imam jedan font (</a:t>
            </a:r>
            <a:r>
              <a:rPr lang="hr-HR" sz="1800" dirty="0" err="1">
                <a:latin typeface="+mn-lt"/>
              </a:rPr>
              <a:t>maks</a:t>
            </a:r>
            <a:r>
              <a:rPr lang="hr-HR" sz="1800" dirty="0">
                <a:latin typeface="+mn-lt"/>
              </a:rPr>
              <a:t> preporuka je dva različita fonta)</a:t>
            </a:r>
            <a:br>
              <a:rPr lang="hr-HR" sz="1800" dirty="0">
                <a:latin typeface="+mn-lt"/>
              </a:rPr>
            </a:br>
            <a:r>
              <a:rPr lang="hr-HR" sz="1800" dirty="0" err="1">
                <a:latin typeface="+mn-lt"/>
              </a:rPr>
              <a:t>Shape</a:t>
            </a:r>
            <a:r>
              <a:rPr lang="hr-HR" sz="1800" dirty="0">
                <a:latin typeface="+mn-lt"/>
              </a:rPr>
              <a:t>-stranica ima uglavnom uglate/meke oblike gdje je to moguće(ponekad to nije moguće radi </a:t>
            </a:r>
            <a:r>
              <a:rPr lang="hr-HR" sz="1800" dirty="0" err="1">
                <a:latin typeface="+mn-lt"/>
              </a:rPr>
              <a:t>Fitt’s</a:t>
            </a:r>
            <a:r>
              <a:rPr lang="hr-HR" sz="1800" dirty="0">
                <a:latin typeface="+mn-lt"/>
              </a:rPr>
              <a:t> </a:t>
            </a:r>
            <a:r>
              <a:rPr lang="hr-HR" sz="1800" dirty="0" err="1">
                <a:latin typeface="+mn-lt"/>
              </a:rPr>
              <a:t>law</a:t>
            </a:r>
            <a:r>
              <a:rPr lang="hr-HR" sz="1800" dirty="0">
                <a:latin typeface="+mn-lt"/>
              </a:rPr>
              <a:t>) zasada NEMA drugi oblika koji bi bili u međusobnom kontrastu</a:t>
            </a:r>
            <a:br>
              <a:rPr lang="hr-HR" sz="1800" dirty="0">
                <a:latin typeface="+mn-lt"/>
              </a:rPr>
            </a:br>
            <a:r>
              <a:rPr lang="hr-HR" sz="1800" dirty="0" err="1">
                <a:latin typeface="+mn-lt"/>
              </a:rPr>
              <a:t>Emphasis</a:t>
            </a:r>
            <a:r>
              <a:rPr lang="hr-HR" sz="1800" dirty="0">
                <a:latin typeface="+mn-lt"/>
              </a:rPr>
              <a:t>- tekst sam po sebi bi uglavnom trebao biti velik i </a:t>
            </a:r>
            <a:r>
              <a:rPr lang="hr-HR" sz="1800" dirty="0" err="1">
                <a:latin typeface="+mn-lt"/>
              </a:rPr>
              <a:t>boldan</a:t>
            </a:r>
            <a:r>
              <a:rPr lang="hr-HR" sz="1800" dirty="0">
                <a:latin typeface="+mn-lt"/>
              </a:rPr>
              <a:t>, zasada NEMA </a:t>
            </a:r>
            <a:r>
              <a:rPr lang="hr-HR" sz="1800" dirty="0" err="1">
                <a:latin typeface="+mn-lt"/>
              </a:rPr>
              <a:t>italics</a:t>
            </a:r>
            <a:r>
              <a:rPr lang="hr-HR" sz="1800" dirty="0">
                <a:latin typeface="+mn-lt"/>
              </a:rPr>
              <a:t> (to moda za profile ili blog)</a:t>
            </a:r>
            <a:br>
              <a:rPr lang="hr-HR" sz="1800" dirty="0">
                <a:latin typeface="+mn-lt"/>
              </a:rPr>
            </a:br>
            <a:br>
              <a:rPr lang="hr-HR" sz="1800" dirty="0">
                <a:latin typeface="+mn-lt"/>
              </a:rPr>
            </a:br>
            <a:r>
              <a:rPr lang="hr-HR" sz="1800" dirty="0" err="1">
                <a:latin typeface="+mn-lt"/>
              </a:rPr>
              <a:t>Repetition</a:t>
            </a:r>
            <a:r>
              <a:rPr lang="hr-HR" sz="1800" dirty="0">
                <a:latin typeface="+mn-lt"/>
              </a:rPr>
              <a:t> – želimo imati „</a:t>
            </a:r>
            <a:r>
              <a:rPr lang="hr-HR" sz="1800" dirty="0" err="1">
                <a:latin typeface="+mn-lt"/>
              </a:rPr>
              <a:t>identitiy</a:t>
            </a:r>
            <a:r>
              <a:rPr lang="hr-HR" sz="1800" dirty="0">
                <a:latin typeface="+mn-lt"/>
              </a:rPr>
              <a:t> </a:t>
            </a:r>
            <a:r>
              <a:rPr lang="hr-HR" sz="1800" dirty="0" err="1">
                <a:latin typeface="+mn-lt"/>
              </a:rPr>
              <a:t>markers</a:t>
            </a:r>
            <a:r>
              <a:rPr lang="hr-HR" sz="1800" dirty="0">
                <a:latin typeface="+mn-lt"/>
              </a:rPr>
              <a:t>” za naš </a:t>
            </a:r>
            <a:r>
              <a:rPr lang="hr-HR" sz="1800" dirty="0" err="1">
                <a:latin typeface="+mn-lt"/>
              </a:rPr>
              <a:t>app</a:t>
            </a:r>
            <a:r>
              <a:rPr lang="hr-HR" sz="1800" dirty="0">
                <a:latin typeface="+mn-lt"/>
              </a:rPr>
              <a:t>, to su za nas korištenje </a:t>
            </a:r>
            <a:r>
              <a:rPr lang="hr-HR" sz="1800" dirty="0" err="1">
                <a:latin typeface="+mn-lt"/>
              </a:rPr>
              <a:t>Brick</a:t>
            </a:r>
            <a:r>
              <a:rPr lang="hr-HR" sz="1800" dirty="0">
                <a:latin typeface="+mn-lt"/>
              </a:rPr>
              <a:t> Red, naglašavanje loga i imena </a:t>
            </a:r>
            <a:r>
              <a:rPr lang="hr-HR" sz="1800" dirty="0" err="1">
                <a:latin typeface="+mn-lt"/>
              </a:rPr>
              <a:t>app</a:t>
            </a:r>
            <a:r>
              <a:rPr lang="hr-HR" sz="1800" dirty="0">
                <a:latin typeface="+mn-lt"/>
              </a:rPr>
              <a:t> na vrhu stranice. Bitno je da je dizajn kohezivan i </a:t>
            </a:r>
            <a:r>
              <a:rPr lang="hr-HR" sz="1800" dirty="0" err="1">
                <a:latin typeface="+mn-lt"/>
              </a:rPr>
              <a:t>konzistenat</a:t>
            </a:r>
            <a:r>
              <a:rPr lang="hr-HR" sz="1800" dirty="0">
                <a:latin typeface="+mn-lt"/>
              </a:rPr>
              <a:t>, tako da kad dodaješ nešto novo pa ideš birati oblik, boje, </a:t>
            </a:r>
            <a:r>
              <a:rPr lang="hr-HR" sz="1800" dirty="0" err="1">
                <a:latin typeface="+mn-lt"/>
              </a:rPr>
              <a:t>border</a:t>
            </a:r>
            <a:r>
              <a:rPr lang="hr-HR" sz="1800" dirty="0">
                <a:latin typeface="+mn-lt"/>
              </a:rPr>
              <a:t> </a:t>
            </a:r>
            <a:r>
              <a:rPr lang="hr-HR" sz="1800" dirty="0" err="1">
                <a:latin typeface="+mn-lt"/>
              </a:rPr>
              <a:t>type</a:t>
            </a:r>
            <a:r>
              <a:rPr lang="hr-HR" sz="1800" dirty="0">
                <a:latin typeface="+mn-lt"/>
              </a:rPr>
              <a:t> provjeri što tvoja </a:t>
            </a:r>
            <a:r>
              <a:rPr lang="hr-HR" sz="1800" dirty="0" err="1">
                <a:latin typeface="+mn-lt"/>
              </a:rPr>
              <a:t>app</a:t>
            </a:r>
            <a:r>
              <a:rPr lang="hr-HR" sz="1800" dirty="0">
                <a:latin typeface="+mn-lt"/>
              </a:rPr>
              <a:t> već koristi i upotrijebi ponovno (ako ima smisla, ako novi element treba biti u kontrastu s postojećim onda nemoj raditi </a:t>
            </a:r>
            <a:r>
              <a:rPr lang="hr-HR" sz="1800" dirty="0" err="1">
                <a:latin typeface="+mn-lt"/>
              </a:rPr>
              <a:t>repetition</a:t>
            </a:r>
            <a:r>
              <a:rPr lang="hr-HR" sz="1800" dirty="0">
                <a:latin typeface="+mn-lt"/>
              </a:rPr>
              <a:t>). Note: možda bi bilo dobro da svaka stranica na dnu ima </a:t>
            </a:r>
            <a:r>
              <a:rPr lang="hr-HR" sz="1800" dirty="0" err="1">
                <a:latin typeface="+mn-lt"/>
              </a:rPr>
              <a:t>Contacts</a:t>
            </a:r>
            <a:r>
              <a:rPr lang="hr-HR" sz="1800" dirty="0">
                <a:latin typeface="+mn-lt"/>
              </a:rPr>
              <a:t>.</a:t>
            </a:r>
            <a:br>
              <a:rPr lang="hr-HR" sz="1800" dirty="0">
                <a:latin typeface="+mn-lt"/>
              </a:rPr>
            </a:br>
            <a:br>
              <a:rPr lang="hr-HR" sz="1800" dirty="0">
                <a:latin typeface="+mn-lt"/>
              </a:rPr>
            </a:br>
            <a:r>
              <a:rPr lang="hr-HR" sz="1800" dirty="0" err="1">
                <a:latin typeface="+mn-lt"/>
              </a:rPr>
              <a:t>Alignment</a:t>
            </a:r>
            <a:r>
              <a:rPr lang="hr-HR" sz="1800" dirty="0">
                <a:latin typeface="+mn-lt"/>
              </a:rPr>
              <a:t> – bitno centriraj (iznimka je navigacija koja je na vrhu uredno poredana), a sporedne stvari stavi uz rubove</a:t>
            </a:r>
            <a:br>
              <a:rPr lang="hr-HR" sz="1800" dirty="0">
                <a:latin typeface="+mn-lt"/>
              </a:rPr>
            </a:br>
            <a:br>
              <a:rPr lang="hr-HR" sz="1800" dirty="0">
                <a:latin typeface="+mn-lt"/>
              </a:rPr>
            </a:br>
            <a:r>
              <a:rPr lang="hr-HR" sz="1800" dirty="0" err="1">
                <a:latin typeface="+mn-lt"/>
              </a:rPr>
              <a:t>Proximity</a:t>
            </a:r>
            <a:r>
              <a:rPr lang="hr-HR" sz="1800" dirty="0">
                <a:latin typeface="+mn-lt"/>
              </a:rPr>
              <a:t> – </a:t>
            </a:r>
            <a:r>
              <a:rPr lang="hr-HR" sz="1800" dirty="0" err="1">
                <a:latin typeface="+mn-lt"/>
              </a:rPr>
              <a:t>text</a:t>
            </a:r>
            <a:r>
              <a:rPr lang="hr-HR" sz="1800" dirty="0">
                <a:latin typeface="+mn-lt"/>
              </a:rPr>
              <a:t> </a:t>
            </a:r>
            <a:r>
              <a:rPr lang="hr-HR" sz="1800" dirty="0" err="1">
                <a:latin typeface="+mn-lt"/>
              </a:rPr>
              <a:t>and</a:t>
            </a:r>
            <a:r>
              <a:rPr lang="hr-HR" sz="1800" dirty="0">
                <a:latin typeface="+mn-lt"/>
              </a:rPr>
              <a:t> </a:t>
            </a:r>
            <a:r>
              <a:rPr lang="hr-HR" sz="1800" dirty="0" err="1">
                <a:latin typeface="+mn-lt"/>
              </a:rPr>
              <a:t>images</a:t>
            </a:r>
            <a:r>
              <a:rPr lang="hr-HR" sz="1800" dirty="0">
                <a:latin typeface="+mn-lt"/>
              </a:rPr>
              <a:t> </a:t>
            </a:r>
            <a:r>
              <a:rPr lang="hr-HR" sz="1800" dirty="0" err="1">
                <a:latin typeface="+mn-lt"/>
              </a:rPr>
              <a:t>and</a:t>
            </a:r>
            <a:r>
              <a:rPr lang="hr-HR" sz="1800" dirty="0">
                <a:latin typeface="+mn-lt"/>
              </a:rPr>
              <a:t> </a:t>
            </a:r>
            <a:r>
              <a:rPr lang="hr-HR" sz="1800" dirty="0" err="1">
                <a:latin typeface="+mn-lt"/>
              </a:rPr>
              <a:t>features</a:t>
            </a:r>
            <a:r>
              <a:rPr lang="hr-HR" sz="1800" dirty="0">
                <a:latin typeface="+mn-lt"/>
              </a:rPr>
              <a:t> </a:t>
            </a:r>
            <a:r>
              <a:rPr lang="hr-HR" sz="1800" dirty="0" err="1">
                <a:latin typeface="+mn-lt"/>
              </a:rPr>
              <a:t>that</a:t>
            </a:r>
            <a:r>
              <a:rPr lang="hr-HR" sz="1800" dirty="0">
                <a:latin typeface="+mn-lt"/>
              </a:rPr>
              <a:t> are </a:t>
            </a:r>
            <a:r>
              <a:rPr lang="hr-HR" sz="1800" dirty="0" err="1">
                <a:latin typeface="+mn-lt"/>
              </a:rPr>
              <a:t>associated</a:t>
            </a:r>
            <a:r>
              <a:rPr lang="hr-HR" sz="1800" dirty="0">
                <a:latin typeface="+mn-lt"/>
              </a:rPr>
              <a:t> </a:t>
            </a:r>
            <a:r>
              <a:rPr lang="hr-HR" sz="1800" dirty="0" err="1">
                <a:latin typeface="+mn-lt"/>
              </a:rPr>
              <a:t>should</a:t>
            </a:r>
            <a:r>
              <a:rPr lang="hr-HR" sz="1800" dirty="0">
                <a:latin typeface="+mn-lt"/>
              </a:rPr>
              <a:t> </a:t>
            </a:r>
            <a:r>
              <a:rPr lang="hr-HR" sz="1800" dirty="0" err="1">
                <a:latin typeface="+mn-lt"/>
              </a:rPr>
              <a:t>be</a:t>
            </a:r>
            <a:r>
              <a:rPr lang="hr-HR" sz="1800" dirty="0">
                <a:latin typeface="+mn-lt"/>
              </a:rPr>
              <a:t> </a:t>
            </a:r>
            <a:r>
              <a:rPr lang="hr-HR" sz="1800" dirty="0" err="1">
                <a:latin typeface="+mn-lt"/>
              </a:rPr>
              <a:t>placed</a:t>
            </a:r>
            <a:r>
              <a:rPr lang="hr-HR" sz="1800" dirty="0">
                <a:latin typeface="+mn-lt"/>
              </a:rPr>
              <a:t> </a:t>
            </a:r>
            <a:r>
              <a:rPr lang="hr-HR" sz="1800" dirty="0" err="1">
                <a:latin typeface="+mn-lt"/>
              </a:rPr>
              <a:t>closely</a:t>
            </a:r>
            <a:r>
              <a:rPr lang="hr-HR" sz="1800" dirty="0">
                <a:latin typeface="+mn-lt"/>
              </a:rPr>
              <a:t> </a:t>
            </a:r>
            <a:r>
              <a:rPr lang="hr-HR" sz="1800" dirty="0" err="1">
                <a:latin typeface="+mn-lt"/>
              </a:rPr>
              <a:t>together</a:t>
            </a:r>
            <a:r>
              <a:rPr lang="hr-HR" sz="1800" dirty="0">
                <a:latin typeface="+mn-lt"/>
              </a:rPr>
              <a:t> npr. Kartica s receptom ima sliku, sažetak, ime i neke </a:t>
            </a:r>
            <a:r>
              <a:rPr lang="hr-HR" sz="1800" dirty="0" err="1">
                <a:latin typeface="+mn-lt"/>
              </a:rPr>
              <a:t>tagove</a:t>
            </a:r>
            <a:r>
              <a:rPr lang="hr-HR" sz="1800" dirty="0">
                <a:latin typeface="+mn-lt"/>
              </a:rPr>
              <a:t> sve unutar </a:t>
            </a:r>
            <a:r>
              <a:rPr lang="hr-HR" sz="1800" dirty="0" err="1">
                <a:latin typeface="+mn-lt"/>
              </a:rPr>
              <a:t>bordera</a:t>
            </a:r>
            <a:r>
              <a:rPr lang="hr-HR" sz="1800" dirty="0">
                <a:latin typeface="+mn-lt"/>
              </a:rPr>
              <a:t> kartice; navigacijski botuni su isto blizu jedan drugome.</a:t>
            </a:r>
            <a:br>
              <a:rPr lang="hr-HR" sz="1200" dirty="0">
                <a:latin typeface="+mn-lt"/>
              </a:rPr>
            </a:br>
            <a:endParaRPr lang="hr-HR" sz="1200" dirty="0">
              <a:latin typeface="+mn-lt"/>
            </a:endParaRPr>
          </a:p>
        </p:txBody>
      </p:sp>
    </p:spTree>
    <p:extLst>
      <p:ext uri="{BB962C8B-B14F-4D97-AF65-F5344CB8AC3E}">
        <p14:creationId xmlns:p14="http://schemas.microsoft.com/office/powerpoint/2010/main" val="1043649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528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6" name="Pravokutnik 5">
            <a:extLst>
              <a:ext uri="{FF2B5EF4-FFF2-40B4-BE49-F238E27FC236}">
                <a16:creationId xmlns:a16="http://schemas.microsoft.com/office/drawing/2014/main" id="{2C0BD7F6-EF6E-43EA-95FE-CE25AAF51EF7}"/>
              </a:ext>
            </a:extLst>
          </p:cNvPr>
          <p:cNvSpPr/>
          <p:nvPr/>
        </p:nvSpPr>
        <p:spPr>
          <a:xfrm>
            <a:off x="9039247" y="5590572"/>
            <a:ext cx="1042301" cy="369332"/>
          </a:xfrm>
          <a:prstGeom prst="rect">
            <a:avLst/>
          </a:prstGeom>
          <a:solidFill>
            <a:srgbClr val="B854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5" name="TekstniOkvir 4">
            <a:extLst>
              <a:ext uri="{FF2B5EF4-FFF2-40B4-BE49-F238E27FC236}">
                <a16:creationId xmlns:a16="http://schemas.microsoft.com/office/drawing/2014/main" id="{C611795D-A592-4B49-9DD3-2F16472FDCC7}"/>
              </a:ext>
            </a:extLst>
          </p:cNvPr>
          <p:cNvSpPr txBox="1"/>
          <p:nvPr/>
        </p:nvSpPr>
        <p:spPr>
          <a:xfrm flipH="1">
            <a:off x="9039248" y="5590572"/>
            <a:ext cx="2084603" cy="369332"/>
          </a:xfrm>
          <a:prstGeom prst="rect">
            <a:avLst/>
          </a:prstGeom>
          <a:noFill/>
        </p:spPr>
        <p:txBody>
          <a:bodyPr wrap="square" rtlCol="0">
            <a:spAutoFit/>
          </a:bodyPr>
          <a:lstStyle/>
          <a:p>
            <a:r>
              <a:rPr lang="hr-HR" dirty="0">
                <a:solidFill>
                  <a:schemeClr val="bg1"/>
                </a:solidFill>
              </a:rPr>
              <a:t>SHUFFLE</a:t>
            </a:r>
          </a:p>
        </p:txBody>
      </p:sp>
      <p:sp>
        <p:nvSpPr>
          <p:cNvPr id="7" name="TekstniOkvir 6">
            <a:extLst>
              <a:ext uri="{FF2B5EF4-FFF2-40B4-BE49-F238E27FC236}">
                <a16:creationId xmlns:a16="http://schemas.microsoft.com/office/drawing/2014/main" id="{13E0D007-0CBD-42BD-A22D-693071389080}"/>
              </a:ext>
            </a:extLst>
          </p:cNvPr>
          <p:cNvSpPr txBox="1"/>
          <p:nvPr/>
        </p:nvSpPr>
        <p:spPr>
          <a:xfrm flipH="1">
            <a:off x="4108431" y="1098161"/>
            <a:ext cx="5973117" cy="1077218"/>
          </a:xfrm>
          <a:prstGeom prst="rect">
            <a:avLst/>
          </a:prstGeom>
          <a:noFill/>
        </p:spPr>
        <p:txBody>
          <a:bodyPr wrap="square" rtlCol="0">
            <a:spAutoFit/>
          </a:bodyPr>
          <a:lstStyle/>
          <a:p>
            <a:pPr algn="ctr"/>
            <a:r>
              <a:rPr lang="en-US" sz="2800" dirty="0"/>
              <a:t>Whatever you’ve got is enough</a:t>
            </a:r>
            <a:r>
              <a:rPr lang="hr-HR" sz="2800" dirty="0"/>
              <a:t> </a:t>
            </a:r>
            <a:endParaRPr lang="hr-HR" sz="2800" dirty="0">
              <a:sym typeface="Wingdings" panose="05000000000000000000" pitchFamily="2" charset="2"/>
            </a:endParaRPr>
          </a:p>
          <a:p>
            <a:pPr algn="ctr"/>
            <a:r>
              <a:rPr lang="en-US" dirty="0"/>
              <a:t> Share your </a:t>
            </a:r>
            <a:r>
              <a:rPr lang="en-US" b="1" dirty="0"/>
              <a:t>ingredients, skills</a:t>
            </a:r>
            <a:r>
              <a:rPr lang="en-US" dirty="0"/>
              <a:t>, and </a:t>
            </a:r>
            <a:r>
              <a:rPr lang="en-US" b="1" dirty="0"/>
              <a:t>tools</a:t>
            </a:r>
            <a:r>
              <a:rPr lang="en-US" dirty="0"/>
              <a:t> </a:t>
            </a:r>
            <a:endParaRPr lang="hr-HR" dirty="0"/>
          </a:p>
          <a:p>
            <a:pPr algn="ctr"/>
            <a:r>
              <a:rPr lang="hr-HR" dirty="0" err="1"/>
              <a:t>Cooking</a:t>
            </a:r>
            <a:r>
              <a:rPr lang="hr-HR" dirty="0"/>
              <a:t> </a:t>
            </a:r>
            <a:r>
              <a:rPr lang="hr-HR" dirty="0" err="1"/>
              <a:t>Helper</a:t>
            </a:r>
            <a:r>
              <a:rPr lang="hr-HR" dirty="0"/>
              <a:t> </a:t>
            </a:r>
            <a:r>
              <a:rPr lang="hr-HR" dirty="0" err="1"/>
              <a:t>will</a:t>
            </a:r>
            <a:r>
              <a:rPr lang="en-US" dirty="0"/>
              <a:t> take care of the recipe</a:t>
            </a:r>
            <a:endParaRPr lang="hr-HR" dirty="0"/>
          </a:p>
        </p:txBody>
      </p:sp>
      <p:sp>
        <p:nvSpPr>
          <p:cNvPr id="9" name="TekstniOkvir 8">
            <a:extLst>
              <a:ext uri="{FF2B5EF4-FFF2-40B4-BE49-F238E27FC236}">
                <a16:creationId xmlns:a16="http://schemas.microsoft.com/office/drawing/2014/main" id="{82179DFA-7194-4DA7-BD3C-D05BB0F383E7}"/>
              </a:ext>
            </a:extLst>
          </p:cNvPr>
          <p:cNvSpPr txBox="1"/>
          <p:nvPr/>
        </p:nvSpPr>
        <p:spPr>
          <a:xfrm flipH="1">
            <a:off x="9244310" y="2047164"/>
            <a:ext cx="2084603" cy="2031325"/>
          </a:xfrm>
          <a:prstGeom prst="rect">
            <a:avLst/>
          </a:prstGeom>
          <a:noFill/>
        </p:spPr>
        <p:txBody>
          <a:bodyPr wrap="square" rtlCol="0">
            <a:spAutoFit/>
          </a:bodyPr>
          <a:lstStyle/>
          <a:p>
            <a:r>
              <a:rPr lang="hr-HR" dirty="0"/>
              <a:t>Tekst iznad </a:t>
            </a:r>
            <a:r>
              <a:rPr lang="hr-HR" dirty="0" err="1"/>
              <a:t>search</a:t>
            </a:r>
            <a:r>
              <a:rPr lang="hr-HR" dirty="0"/>
              <a:t>-a bi trebalo zamijeniti novijom verzijom zato što prethodna verzija ne daje dostatne upute kako koristiti </a:t>
            </a:r>
            <a:r>
              <a:rPr lang="hr-HR" dirty="0" err="1"/>
              <a:t>app</a:t>
            </a:r>
            <a:endParaRPr lang="hr-HR" dirty="0"/>
          </a:p>
        </p:txBody>
      </p:sp>
      <p:sp>
        <p:nvSpPr>
          <p:cNvPr id="10" name="Strelica: zakrivljeno prema dolje 9">
            <a:extLst>
              <a:ext uri="{FF2B5EF4-FFF2-40B4-BE49-F238E27FC236}">
                <a16:creationId xmlns:a16="http://schemas.microsoft.com/office/drawing/2014/main" id="{5AFB8AAA-3598-4FD2-AD56-853850C4E85C}"/>
              </a:ext>
            </a:extLst>
          </p:cNvPr>
          <p:cNvSpPr/>
          <p:nvPr/>
        </p:nvSpPr>
        <p:spPr>
          <a:xfrm rot="6525740">
            <a:off x="8158663" y="1835571"/>
            <a:ext cx="2474995" cy="1924334"/>
          </a:xfrm>
          <a:prstGeom prst="curvedDownArrow">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solidFill>
                <a:schemeClr val="tx1"/>
              </a:solidFill>
            </a:endParaRPr>
          </a:p>
        </p:txBody>
      </p:sp>
    </p:spTree>
    <p:extLst>
      <p:ext uri="{BB962C8B-B14F-4D97-AF65-F5344CB8AC3E}">
        <p14:creationId xmlns:p14="http://schemas.microsoft.com/office/powerpoint/2010/main" val="3179497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6862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16" name="Slika 15">
            <a:extLst>
              <a:ext uri="{FF2B5EF4-FFF2-40B4-BE49-F238E27FC236}">
                <a16:creationId xmlns:a16="http://schemas.microsoft.com/office/drawing/2014/main" id="{D3D49740-4939-4521-8715-89AA2FA4CE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5666" y="18095"/>
            <a:ext cx="3305636" cy="6839905"/>
          </a:xfrm>
          <a:prstGeom prst="rect">
            <a:avLst/>
          </a:prstGeom>
        </p:spPr>
      </p:pic>
      <p:sp>
        <p:nvSpPr>
          <p:cNvPr id="4" name="TekstniOkvir 3">
            <a:extLst>
              <a:ext uri="{FF2B5EF4-FFF2-40B4-BE49-F238E27FC236}">
                <a16:creationId xmlns:a16="http://schemas.microsoft.com/office/drawing/2014/main" id="{6C45E5E4-700A-4FB8-B704-D36ED19680BD}"/>
              </a:ext>
            </a:extLst>
          </p:cNvPr>
          <p:cNvSpPr txBox="1"/>
          <p:nvPr/>
        </p:nvSpPr>
        <p:spPr>
          <a:xfrm flipH="1">
            <a:off x="163706" y="254845"/>
            <a:ext cx="2818911" cy="4524315"/>
          </a:xfrm>
          <a:prstGeom prst="rect">
            <a:avLst/>
          </a:prstGeom>
          <a:noFill/>
        </p:spPr>
        <p:txBody>
          <a:bodyPr wrap="square" rtlCol="0">
            <a:spAutoFit/>
          </a:bodyPr>
          <a:lstStyle/>
          <a:p>
            <a:r>
              <a:rPr lang="hr-HR" dirty="0"/>
              <a:t>APP NA MOBITELU</a:t>
            </a:r>
          </a:p>
          <a:p>
            <a:r>
              <a:rPr lang="hr-HR" dirty="0"/>
              <a:t>-ZA NAVIGACIJSKE BOTUNE, ISKORISTI RUB SA STRANE (IZBJEGNI 1 PIXEL CURSE!)</a:t>
            </a:r>
          </a:p>
          <a:p>
            <a:endParaRPr lang="hr-HR" dirty="0"/>
          </a:p>
          <a:p>
            <a:r>
              <a:rPr lang="hr-HR" dirty="0"/>
              <a:t>-uklonjen je dio teksta koji nije toliko bitan kako bi se dao prostor bitnijim </a:t>
            </a:r>
            <a:r>
              <a:rPr lang="hr-HR" dirty="0" err="1"/>
              <a:t>featurima</a:t>
            </a:r>
            <a:endParaRPr lang="hr-HR" dirty="0"/>
          </a:p>
          <a:p>
            <a:endParaRPr lang="hr-HR" dirty="0"/>
          </a:p>
          <a:p>
            <a:r>
              <a:rPr lang="hr-HR" dirty="0"/>
              <a:t>-</a:t>
            </a:r>
            <a:r>
              <a:rPr lang="hr-HR" dirty="0" err="1"/>
              <a:t>prompt</a:t>
            </a:r>
            <a:r>
              <a:rPr lang="hr-HR" dirty="0"/>
              <a:t> „</a:t>
            </a:r>
            <a:r>
              <a:rPr lang="hr-HR" dirty="0" err="1"/>
              <a:t>Maybe</a:t>
            </a:r>
            <a:r>
              <a:rPr lang="hr-HR" dirty="0"/>
              <a:t> </a:t>
            </a:r>
            <a:r>
              <a:rPr lang="hr-HR" dirty="0" err="1"/>
              <a:t>try</a:t>
            </a:r>
            <a:r>
              <a:rPr lang="hr-HR" dirty="0"/>
              <a:t>…?” smatra se bitnim za </a:t>
            </a:r>
            <a:r>
              <a:rPr lang="hr-HR" dirty="0" err="1"/>
              <a:t>kickstartanjem</a:t>
            </a:r>
            <a:r>
              <a:rPr lang="hr-HR" dirty="0"/>
              <a:t> misli korisnika, ako korisnik baš i nema ideju što pripremiti, ono niti okvirno</a:t>
            </a:r>
          </a:p>
        </p:txBody>
      </p:sp>
      <p:sp>
        <p:nvSpPr>
          <p:cNvPr id="5" name="Pravokutnik 4">
            <a:extLst>
              <a:ext uri="{FF2B5EF4-FFF2-40B4-BE49-F238E27FC236}">
                <a16:creationId xmlns:a16="http://schemas.microsoft.com/office/drawing/2014/main" id="{44F450AE-BD0F-452B-9224-6A035FF66CEC}"/>
              </a:ext>
            </a:extLst>
          </p:cNvPr>
          <p:cNvSpPr/>
          <p:nvPr/>
        </p:nvSpPr>
        <p:spPr>
          <a:xfrm>
            <a:off x="7541342" y="1455174"/>
            <a:ext cx="285135" cy="1671484"/>
          </a:xfrm>
          <a:prstGeom prst="rect">
            <a:avLst/>
          </a:prstGeom>
          <a:solidFill>
            <a:srgbClr val="B85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7" name="Pravokutnik 6">
            <a:extLst>
              <a:ext uri="{FF2B5EF4-FFF2-40B4-BE49-F238E27FC236}">
                <a16:creationId xmlns:a16="http://schemas.microsoft.com/office/drawing/2014/main" id="{F8F39BA2-05F6-4118-B469-90C33FB80F22}"/>
              </a:ext>
            </a:extLst>
          </p:cNvPr>
          <p:cNvSpPr/>
          <p:nvPr/>
        </p:nvSpPr>
        <p:spPr>
          <a:xfrm>
            <a:off x="4650659" y="1455174"/>
            <a:ext cx="285135" cy="1671484"/>
          </a:xfrm>
          <a:prstGeom prst="rect">
            <a:avLst/>
          </a:prstGeom>
          <a:solidFill>
            <a:srgbClr val="B85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cxnSp>
        <p:nvCxnSpPr>
          <p:cNvPr id="9" name="Ravni poveznik 8">
            <a:extLst>
              <a:ext uri="{FF2B5EF4-FFF2-40B4-BE49-F238E27FC236}">
                <a16:creationId xmlns:a16="http://schemas.microsoft.com/office/drawing/2014/main" id="{8D6D1DBB-61E9-4E0C-B78F-8CB157AC2ED0}"/>
              </a:ext>
            </a:extLst>
          </p:cNvPr>
          <p:cNvCxnSpPr/>
          <p:nvPr/>
        </p:nvCxnSpPr>
        <p:spPr>
          <a:xfrm>
            <a:off x="7437603" y="2005780"/>
            <a:ext cx="4926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Ravni poveznik 9">
            <a:extLst>
              <a:ext uri="{FF2B5EF4-FFF2-40B4-BE49-F238E27FC236}">
                <a16:creationId xmlns:a16="http://schemas.microsoft.com/office/drawing/2014/main" id="{A8DFDE43-6A1B-443F-A3C1-FB11592336BC}"/>
              </a:ext>
            </a:extLst>
          </p:cNvPr>
          <p:cNvCxnSpPr/>
          <p:nvPr/>
        </p:nvCxnSpPr>
        <p:spPr>
          <a:xfrm>
            <a:off x="7437603" y="2571135"/>
            <a:ext cx="4926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Ravni poveznik 10">
            <a:extLst>
              <a:ext uri="{FF2B5EF4-FFF2-40B4-BE49-F238E27FC236}">
                <a16:creationId xmlns:a16="http://schemas.microsoft.com/office/drawing/2014/main" id="{F971204D-0391-4F3B-89F5-8CBE0B9E9A52}"/>
              </a:ext>
            </a:extLst>
          </p:cNvPr>
          <p:cNvCxnSpPr/>
          <p:nvPr/>
        </p:nvCxnSpPr>
        <p:spPr>
          <a:xfrm>
            <a:off x="4620163" y="2005780"/>
            <a:ext cx="4926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Ravni poveznik 11">
            <a:extLst>
              <a:ext uri="{FF2B5EF4-FFF2-40B4-BE49-F238E27FC236}">
                <a16:creationId xmlns:a16="http://schemas.microsoft.com/office/drawing/2014/main" id="{8E683318-D85C-4382-B80D-B500CB626D60}"/>
              </a:ext>
            </a:extLst>
          </p:cNvPr>
          <p:cNvCxnSpPr>
            <a:cxnSpLocks/>
          </p:cNvCxnSpPr>
          <p:nvPr/>
        </p:nvCxnSpPr>
        <p:spPr>
          <a:xfrm flipV="1">
            <a:off x="4542254" y="2541639"/>
            <a:ext cx="501944" cy="245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8" name="Slika 17">
            <a:extLst>
              <a:ext uri="{FF2B5EF4-FFF2-40B4-BE49-F238E27FC236}">
                <a16:creationId xmlns:a16="http://schemas.microsoft.com/office/drawing/2014/main" id="{CE37F43F-343A-44E2-BC18-CB212C3AE355}"/>
              </a:ext>
            </a:extLst>
          </p:cNvPr>
          <p:cNvPicPr>
            <a:picLocks noChangeAspect="1"/>
          </p:cNvPicPr>
          <p:nvPr/>
        </p:nvPicPr>
        <p:blipFill rotWithShape="1">
          <a:blip r:embed="rId2">
            <a:extLst>
              <a:ext uri="{28A0092B-C50C-407E-A947-70E740481C1C}">
                <a14:useLocalDpi xmlns:a14="http://schemas.microsoft.com/office/drawing/2010/main" val="0"/>
              </a:ext>
            </a:extLst>
          </a:blip>
          <a:srcRect t="78078"/>
          <a:stretch/>
        </p:blipFill>
        <p:spPr>
          <a:xfrm>
            <a:off x="4586753" y="3548902"/>
            <a:ext cx="3305636" cy="1499420"/>
          </a:xfrm>
          <a:prstGeom prst="rect">
            <a:avLst/>
          </a:prstGeom>
        </p:spPr>
      </p:pic>
      <p:sp>
        <p:nvSpPr>
          <p:cNvPr id="20" name="Pravokutnik 19">
            <a:extLst>
              <a:ext uri="{FF2B5EF4-FFF2-40B4-BE49-F238E27FC236}">
                <a16:creationId xmlns:a16="http://schemas.microsoft.com/office/drawing/2014/main" id="{086AEAF3-8542-4D0E-BF30-F94B945D88C0}"/>
              </a:ext>
            </a:extLst>
          </p:cNvPr>
          <p:cNvSpPr/>
          <p:nvPr/>
        </p:nvSpPr>
        <p:spPr>
          <a:xfrm>
            <a:off x="4593056" y="4639733"/>
            <a:ext cx="3284223" cy="2175592"/>
          </a:xfrm>
          <a:prstGeom prst="rect">
            <a:avLst/>
          </a:prstGeom>
          <a:solidFill>
            <a:srgbClr val="FBF7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9" name="TekstniOkvir 18">
            <a:extLst>
              <a:ext uri="{FF2B5EF4-FFF2-40B4-BE49-F238E27FC236}">
                <a16:creationId xmlns:a16="http://schemas.microsoft.com/office/drawing/2014/main" id="{D6942756-FF3B-424C-B4EB-01CD91E6B7E3}"/>
              </a:ext>
            </a:extLst>
          </p:cNvPr>
          <p:cNvSpPr txBox="1"/>
          <p:nvPr/>
        </p:nvSpPr>
        <p:spPr>
          <a:xfrm>
            <a:off x="5002360" y="5161256"/>
            <a:ext cx="2412648" cy="707886"/>
          </a:xfrm>
          <a:prstGeom prst="rect">
            <a:avLst/>
          </a:prstGeom>
          <a:noFill/>
        </p:spPr>
        <p:txBody>
          <a:bodyPr wrap="none" rtlCol="0">
            <a:spAutoFit/>
          </a:bodyPr>
          <a:lstStyle/>
          <a:p>
            <a:pPr algn="ctr"/>
            <a:r>
              <a:rPr lang="hr-HR" sz="2000" dirty="0" err="1"/>
              <a:t>Maybe</a:t>
            </a:r>
            <a:r>
              <a:rPr lang="hr-HR" sz="2000" dirty="0"/>
              <a:t> </a:t>
            </a:r>
            <a:r>
              <a:rPr lang="hr-HR" sz="2000" dirty="0" err="1"/>
              <a:t>try</a:t>
            </a:r>
            <a:r>
              <a:rPr lang="hr-HR" sz="2000" dirty="0"/>
              <a:t> </a:t>
            </a:r>
            <a:r>
              <a:rPr lang="hr-HR" sz="2000" dirty="0" err="1"/>
              <a:t>making</a:t>
            </a:r>
            <a:r>
              <a:rPr lang="hr-HR" sz="2000" dirty="0"/>
              <a:t> </a:t>
            </a:r>
          </a:p>
          <a:p>
            <a:pPr algn="ctr"/>
            <a:r>
              <a:rPr lang="hr-HR" sz="2000" dirty="0"/>
              <a:t>one </a:t>
            </a:r>
            <a:r>
              <a:rPr lang="hr-HR" sz="2000" dirty="0" err="1"/>
              <a:t>of</a:t>
            </a:r>
            <a:r>
              <a:rPr lang="hr-HR" sz="2000" dirty="0"/>
              <a:t> </a:t>
            </a:r>
            <a:r>
              <a:rPr lang="hr-HR" sz="2000" dirty="0" err="1"/>
              <a:t>these</a:t>
            </a:r>
            <a:r>
              <a:rPr lang="hr-HR" sz="2000" dirty="0"/>
              <a:t> </a:t>
            </a:r>
            <a:r>
              <a:rPr lang="hr-HR" sz="2000" dirty="0" err="1"/>
              <a:t>recipes</a:t>
            </a:r>
            <a:r>
              <a:rPr lang="hr-HR" sz="2000" dirty="0"/>
              <a:t>?</a:t>
            </a:r>
          </a:p>
        </p:txBody>
      </p:sp>
      <p:pic>
        <p:nvPicPr>
          <p:cNvPr id="22" name="Slika 21">
            <a:extLst>
              <a:ext uri="{FF2B5EF4-FFF2-40B4-BE49-F238E27FC236}">
                <a16:creationId xmlns:a16="http://schemas.microsoft.com/office/drawing/2014/main" id="{EBFC9F87-BB06-4543-BA10-0F1DDBD92432}"/>
              </a:ext>
            </a:extLst>
          </p:cNvPr>
          <p:cNvPicPr>
            <a:picLocks noChangeAspect="1"/>
          </p:cNvPicPr>
          <p:nvPr/>
        </p:nvPicPr>
        <p:blipFill rotWithShape="1">
          <a:blip r:embed="rId3">
            <a:extLst>
              <a:ext uri="{28A0092B-C50C-407E-A947-70E740481C1C}">
                <a14:useLocalDpi xmlns:a14="http://schemas.microsoft.com/office/drawing/2010/main" val="0"/>
              </a:ext>
            </a:extLst>
          </a:blip>
          <a:srcRect l="18407" t="31235" r="54451" b="52189"/>
          <a:stretch/>
        </p:blipFill>
        <p:spPr>
          <a:xfrm>
            <a:off x="4683684" y="5834168"/>
            <a:ext cx="3149600" cy="1136766"/>
          </a:xfrm>
          <a:prstGeom prst="rect">
            <a:avLst/>
          </a:prstGeom>
        </p:spPr>
      </p:pic>
    </p:spTree>
    <p:extLst>
      <p:ext uri="{BB962C8B-B14F-4D97-AF65-F5344CB8AC3E}">
        <p14:creationId xmlns:p14="http://schemas.microsoft.com/office/powerpoint/2010/main" val="1827188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lika 4">
            <a:extLst>
              <a:ext uri="{FF2B5EF4-FFF2-40B4-BE49-F238E27FC236}">
                <a16:creationId xmlns:a16="http://schemas.microsoft.com/office/drawing/2014/main" id="{E1EA3E46-80D8-4457-BE5C-0CAA7823C6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119" y="0"/>
            <a:ext cx="11641761" cy="6858000"/>
          </a:xfrm>
          <a:prstGeom prst="rect">
            <a:avLst/>
          </a:prstGeom>
        </p:spPr>
      </p:pic>
      <p:sp>
        <p:nvSpPr>
          <p:cNvPr id="6" name="Pravokutnik 5">
            <a:extLst>
              <a:ext uri="{FF2B5EF4-FFF2-40B4-BE49-F238E27FC236}">
                <a16:creationId xmlns:a16="http://schemas.microsoft.com/office/drawing/2014/main" id="{8AE7FC57-F3B6-4C99-B627-F52A19880788}"/>
              </a:ext>
            </a:extLst>
          </p:cNvPr>
          <p:cNvSpPr/>
          <p:nvPr/>
        </p:nvSpPr>
        <p:spPr>
          <a:xfrm>
            <a:off x="551725" y="1695690"/>
            <a:ext cx="11088548" cy="5162310"/>
          </a:xfrm>
          <a:prstGeom prst="rect">
            <a:avLst/>
          </a:prstGeom>
          <a:solidFill>
            <a:srgbClr val="FBF7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7" name="Pravokutnik: zaobljeni kutovi 6">
            <a:extLst>
              <a:ext uri="{FF2B5EF4-FFF2-40B4-BE49-F238E27FC236}">
                <a16:creationId xmlns:a16="http://schemas.microsoft.com/office/drawing/2014/main" id="{060215CB-1D83-41FC-ACAD-08F81249296F}"/>
              </a:ext>
            </a:extLst>
          </p:cNvPr>
          <p:cNvSpPr/>
          <p:nvPr/>
        </p:nvSpPr>
        <p:spPr>
          <a:xfrm>
            <a:off x="3356658" y="358815"/>
            <a:ext cx="1365813" cy="706056"/>
          </a:xfrm>
          <a:prstGeom prst="roundRect">
            <a:avLst/>
          </a:prstGeom>
          <a:noFill/>
          <a:ln w="38100">
            <a:solidFill>
              <a:srgbClr val="B854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508385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lika 4">
            <a:extLst>
              <a:ext uri="{FF2B5EF4-FFF2-40B4-BE49-F238E27FC236}">
                <a16:creationId xmlns:a16="http://schemas.microsoft.com/office/drawing/2014/main" id="{E1EA3E46-80D8-4457-BE5C-0CAA7823C6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119" y="0"/>
            <a:ext cx="11641761" cy="6858000"/>
          </a:xfrm>
          <a:prstGeom prst="rect">
            <a:avLst/>
          </a:prstGeom>
        </p:spPr>
      </p:pic>
      <p:sp>
        <p:nvSpPr>
          <p:cNvPr id="6" name="Pravokutnik 5">
            <a:extLst>
              <a:ext uri="{FF2B5EF4-FFF2-40B4-BE49-F238E27FC236}">
                <a16:creationId xmlns:a16="http://schemas.microsoft.com/office/drawing/2014/main" id="{8AE7FC57-F3B6-4C99-B627-F52A19880788}"/>
              </a:ext>
            </a:extLst>
          </p:cNvPr>
          <p:cNvSpPr/>
          <p:nvPr/>
        </p:nvSpPr>
        <p:spPr>
          <a:xfrm>
            <a:off x="551725" y="1695690"/>
            <a:ext cx="11088548" cy="5162310"/>
          </a:xfrm>
          <a:prstGeom prst="rect">
            <a:avLst/>
          </a:prstGeom>
          <a:solidFill>
            <a:srgbClr val="FBF7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7" name="Pravokutnik: zaobljeni kutovi 6">
            <a:extLst>
              <a:ext uri="{FF2B5EF4-FFF2-40B4-BE49-F238E27FC236}">
                <a16:creationId xmlns:a16="http://schemas.microsoft.com/office/drawing/2014/main" id="{060215CB-1D83-41FC-ACAD-08F81249296F}"/>
              </a:ext>
            </a:extLst>
          </p:cNvPr>
          <p:cNvSpPr/>
          <p:nvPr/>
        </p:nvSpPr>
        <p:spPr>
          <a:xfrm>
            <a:off x="7442535" y="358815"/>
            <a:ext cx="1365813" cy="706056"/>
          </a:xfrm>
          <a:prstGeom prst="roundRect">
            <a:avLst/>
          </a:prstGeom>
          <a:noFill/>
          <a:ln w="38100">
            <a:solidFill>
              <a:srgbClr val="B854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pic>
        <p:nvPicPr>
          <p:cNvPr id="4" name="Slika 3">
            <a:extLst>
              <a:ext uri="{FF2B5EF4-FFF2-40B4-BE49-F238E27FC236}">
                <a16:creationId xmlns:a16="http://schemas.microsoft.com/office/drawing/2014/main" id="{A64932F9-D081-481D-99A4-0A788C4B1392}"/>
              </a:ext>
            </a:extLst>
          </p:cNvPr>
          <p:cNvPicPr>
            <a:picLocks noChangeAspect="1"/>
          </p:cNvPicPr>
          <p:nvPr/>
        </p:nvPicPr>
        <p:blipFill rotWithShape="1">
          <a:blip r:embed="rId2">
            <a:extLst>
              <a:ext uri="{28A0092B-C50C-407E-A947-70E740481C1C}">
                <a14:useLocalDpi xmlns:a14="http://schemas.microsoft.com/office/drawing/2010/main" val="0"/>
              </a:ext>
            </a:extLst>
          </a:blip>
          <a:srcRect l="16627" t="46583" r="22924" b="31814"/>
          <a:stretch/>
        </p:blipFill>
        <p:spPr>
          <a:xfrm>
            <a:off x="2577295" y="1588626"/>
            <a:ext cx="7037407" cy="1481559"/>
          </a:xfrm>
          <a:prstGeom prst="rect">
            <a:avLst/>
          </a:prstGeom>
        </p:spPr>
      </p:pic>
      <p:sp>
        <p:nvSpPr>
          <p:cNvPr id="8" name="TekstniOkvir 7">
            <a:extLst>
              <a:ext uri="{FF2B5EF4-FFF2-40B4-BE49-F238E27FC236}">
                <a16:creationId xmlns:a16="http://schemas.microsoft.com/office/drawing/2014/main" id="{8DDBFA2E-AE13-4CBC-96D3-66263A0AF27D}"/>
              </a:ext>
            </a:extLst>
          </p:cNvPr>
          <p:cNvSpPr txBox="1"/>
          <p:nvPr/>
        </p:nvSpPr>
        <p:spPr>
          <a:xfrm>
            <a:off x="4340506" y="2063714"/>
            <a:ext cx="2191818" cy="369332"/>
          </a:xfrm>
          <a:prstGeom prst="rect">
            <a:avLst/>
          </a:prstGeom>
          <a:noFill/>
        </p:spPr>
        <p:txBody>
          <a:bodyPr wrap="none" rtlCol="0">
            <a:spAutoFit/>
          </a:bodyPr>
          <a:lstStyle/>
          <a:p>
            <a:r>
              <a:rPr lang="hr-HR" dirty="0"/>
              <a:t>-----------</a:t>
            </a:r>
            <a:r>
              <a:rPr lang="hr-HR" dirty="0">
                <a:solidFill>
                  <a:schemeClr val="tx1">
                    <a:lumMod val="50000"/>
                    <a:lumOff val="50000"/>
                  </a:schemeClr>
                </a:solidFill>
              </a:rPr>
              <a:t>BLOG POSTS</a:t>
            </a:r>
          </a:p>
        </p:txBody>
      </p:sp>
      <p:sp>
        <p:nvSpPr>
          <p:cNvPr id="9" name="Pravokutnik 8">
            <a:extLst>
              <a:ext uri="{FF2B5EF4-FFF2-40B4-BE49-F238E27FC236}">
                <a16:creationId xmlns:a16="http://schemas.microsoft.com/office/drawing/2014/main" id="{E5D9CC73-9261-459F-BCD0-385F438F85CE}"/>
              </a:ext>
            </a:extLst>
          </p:cNvPr>
          <p:cNvSpPr/>
          <p:nvPr/>
        </p:nvSpPr>
        <p:spPr>
          <a:xfrm>
            <a:off x="1794076" y="3217762"/>
            <a:ext cx="8218025" cy="1441049"/>
          </a:xfrm>
          <a:prstGeom prst="rect">
            <a:avLst/>
          </a:prstGeom>
          <a:solidFill>
            <a:srgbClr val="FBF7F4"/>
          </a:solidFill>
          <a:ln w="38100">
            <a:solidFill>
              <a:srgbClr val="B854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dirty="0">
                <a:solidFill>
                  <a:schemeClr val="tx1"/>
                </a:solidFill>
              </a:rPr>
              <a:t>Blog post 1 … ime korisnika, nešto teksta </a:t>
            </a:r>
          </a:p>
        </p:txBody>
      </p:sp>
      <p:sp>
        <p:nvSpPr>
          <p:cNvPr id="10" name="Pravokutnik 9">
            <a:extLst>
              <a:ext uri="{FF2B5EF4-FFF2-40B4-BE49-F238E27FC236}">
                <a16:creationId xmlns:a16="http://schemas.microsoft.com/office/drawing/2014/main" id="{AC8B6637-3860-4E2B-AF7A-BC74A3FF1C6E}"/>
              </a:ext>
            </a:extLst>
          </p:cNvPr>
          <p:cNvSpPr/>
          <p:nvPr/>
        </p:nvSpPr>
        <p:spPr>
          <a:xfrm>
            <a:off x="1794075" y="4913452"/>
            <a:ext cx="8218025" cy="1441049"/>
          </a:xfrm>
          <a:prstGeom prst="rect">
            <a:avLst/>
          </a:prstGeom>
          <a:solidFill>
            <a:srgbClr val="FBF7F4"/>
          </a:solidFill>
          <a:ln w="38100">
            <a:solidFill>
              <a:srgbClr val="B854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dirty="0">
                <a:solidFill>
                  <a:schemeClr val="tx1"/>
                </a:solidFill>
              </a:rPr>
              <a:t>Blog post 2….</a:t>
            </a:r>
          </a:p>
        </p:txBody>
      </p:sp>
      <p:pic>
        <p:nvPicPr>
          <p:cNvPr id="12" name="Grafika 11" descr="Znak palac gore">
            <a:extLst>
              <a:ext uri="{FF2B5EF4-FFF2-40B4-BE49-F238E27FC236}">
                <a16:creationId xmlns:a16="http://schemas.microsoft.com/office/drawing/2014/main" id="{4F21ECCC-2C12-426D-AF83-17BB516F144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61673" y="5593464"/>
            <a:ext cx="706057" cy="706057"/>
          </a:xfrm>
          <a:prstGeom prst="rect">
            <a:avLst/>
          </a:prstGeom>
        </p:spPr>
      </p:pic>
      <p:pic>
        <p:nvPicPr>
          <p:cNvPr id="13" name="Grafika 12" descr="Znak palac gore">
            <a:extLst>
              <a:ext uri="{FF2B5EF4-FFF2-40B4-BE49-F238E27FC236}">
                <a16:creationId xmlns:a16="http://schemas.microsoft.com/office/drawing/2014/main" id="{5D7A2DA0-BACA-41D2-943C-09437C59CE3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06043" y="3938286"/>
            <a:ext cx="706057" cy="706057"/>
          </a:xfrm>
          <a:prstGeom prst="rect">
            <a:avLst/>
          </a:prstGeom>
        </p:spPr>
      </p:pic>
    </p:spTree>
    <p:extLst>
      <p:ext uri="{BB962C8B-B14F-4D97-AF65-F5344CB8AC3E}">
        <p14:creationId xmlns:p14="http://schemas.microsoft.com/office/powerpoint/2010/main" val="3244234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lika 4">
            <a:extLst>
              <a:ext uri="{FF2B5EF4-FFF2-40B4-BE49-F238E27FC236}">
                <a16:creationId xmlns:a16="http://schemas.microsoft.com/office/drawing/2014/main" id="{E1EA3E46-80D8-4457-BE5C-0CAA7823C6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119" y="0"/>
            <a:ext cx="11641761" cy="6858000"/>
          </a:xfrm>
          <a:prstGeom prst="rect">
            <a:avLst/>
          </a:prstGeom>
        </p:spPr>
      </p:pic>
      <p:sp>
        <p:nvSpPr>
          <p:cNvPr id="6" name="Pravokutnik 5">
            <a:extLst>
              <a:ext uri="{FF2B5EF4-FFF2-40B4-BE49-F238E27FC236}">
                <a16:creationId xmlns:a16="http://schemas.microsoft.com/office/drawing/2014/main" id="{8AE7FC57-F3B6-4C99-B627-F52A19880788}"/>
              </a:ext>
            </a:extLst>
          </p:cNvPr>
          <p:cNvSpPr/>
          <p:nvPr/>
        </p:nvSpPr>
        <p:spPr>
          <a:xfrm>
            <a:off x="551725" y="1695690"/>
            <a:ext cx="11088548" cy="5162310"/>
          </a:xfrm>
          <a:prstGeom prst="rect">
            <a:avLst/>
          </a:prstGeom>
          <a:solidFill>
            <a:srgbClr val="FBF7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7" name="Pravokutnik: zaobljeni kutovi 6">
            <a:extLst>
              <a:ext uri="{FF2B5EF4-FFF2-40B4-BE49-F238E27FC236}">
                <a16:creationId xmlns:a16="http://schemas.microsoft.com/office/drawing/2014/main" id="{060215CB-1D83-41FC-ACAD-08F81249296F}"/>
              </a:ext>
            </a:extLst>
          </p:cNvPr>
          <p:cNvSpPr/>
          <p:nvPr/>
        </p:nvSpPr>
        <p:spPr>
          <a:xfrm>
            <a:off x="8796764" y="358815"/>
            <a:ext cx="1365813" cy="706056"/>
          </a:xfrm>
          <a:prstGeom prst="roundRect">
            <a:avLst/>
          </a:prstGeom>
          <a:noFill/>
          <a:ln w="38100">
            <a:solidFill>
              <a:srgbClr val="B854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pic>
        <p:nvPicPr>
          <p:cNvPr id="3" name="Grafika 2" descr="Korisnik">
            <a:extLst>
              <a:ext uri="{FF2B5EF4-FFF2-40B4-BE49-F238E27FC236}">
                <a16:creationId xmlns:a16="http://schemas.microsoft.com/office/drawing/2014/main" id="{E6644E66-B9C5-49F5-8477-70E0A855B2B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59920" y="1721733"/>
            <a:ext cx="2113822" cy="2113822"/>
          </a:xfrm>
          <a:prstGeom prst="rect">
            <a:avLst/>
          </a:prstGeom>
        </p:spPr>
      </p:pic>
    </p:spTree>
    <p:extLst>
      <p:ext uri="{BB962C8B-B14F-4D97-AF65-F5344CB8AC3E}">
        <p14:creationId xmlns:p14="http://schemas.microsoft.com/office/powerpoint/2010/main" val="1698883562"/>
      </p:ext>
    </p:extLst>
  </p:cSld>
  <p:clrMapOvr>
    <a:masterClrMapping/>
  </p:clrMapOvr>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622</TotalTime>
  <Words>717</Words>
  <Application>Microsoft Office PowerPoint</Application>
  <PresentationFormat>Široki zaslon</PresentationFormat>
  <Paragraphs>26</Paragraphs>
  <Slides>9</Slides>
  <Notes>0</Notes>
  <HiddenSlides>0</HiddenSlides>
  <MMClips>0</MMClips>
  <ScaleCrop>false</ScaleCrop>
  <HeadingPairs>
    <vt:vector size="6" baseType="variant">
      <vt:variant>
        <vt:lpstr>Korišteni fontovi</vt:lpstr>
      </vt:variant>
      <vt:variant>
        <vt:i4>4</vt:i4>
      </vt:variant>
      <vt:variant>
        <vt:lpstr>Tema</vt:lpstr>
      </vt:variant>
      <vt:variant>
        <vt:i4>1</vt:i4>
      </vt:variant>
      <vt:variant>
        <vt:lpstr>Naslovi slajdova</vt:lpstr>
      </vt:variant>
      <vt:variant>
        <vt:i4>9</vt:i4>
      </vt:variant>
    </vt:vector>
  </HeadingPairs>
  <TitlesOfParts>
    <vt:vector size="14" baseType="lpstr">
      <vt:lpstr>Arial</vt:lpstr>
      <vt:lpstr>Calibri</vt:lpstr>
      <vt:lpstr>Calibri Light</vt:lpstr>
      <vt:lpstr>Wingdings</vt:lpstr>
      <vt:lpstr>Tema sustava Office</vt:lpstr>
      <vt:lpstr>PowerPoint prezentacija</vt:lpstr>
      <vt:lpstr>CRAP Contrast, Repetition, Alignment, Proximity  Contrast-Size(naslovi su uvijek veći od teksta, ako postoje tekstovi jednake važnosti onda trebaju biti jednako veliki)  Color-nemam grupiranje po boji, samo jak kontrast, tj. Možda bi se moglo reći da postoji grupiranje donekle jer bitniji features imaju više crvene Font-imam jedan font (maks preporuka je dva različita fonta) Shape-stranica ima uglavnom uglate/meke oblike gdje je to moguće(ponekad to nije moguće radi Fitt’s law) zasada NEMA drugi oblika koji bi bili u međusobnom kontrastu Emphasis- tekst sam po sebi bi uglavnom trebao biti velik i boldan, zasada NEMA italics (to moda za profile ili blog)  Repetition – želimo imati „identitiy markers” za naš app, to su za nas korištenje Brick Red, naglašavanje loga i imena app na vrhu stranice. Bitno je da je dizajn kohezivan i konzistenat, tako da kad dodaješ nešto novo pa ideš birati oblik, boje, border type provjeri što tvoja app već koristi i upotrijebi ponovno (ako ima smisla, ako novi element treba biti u kontrastu s postojećim onda nemoj raditi repetition). Note: možda bi bilo dobro da svaka stranica na dnu ima Contacts.  Alignment – bitno centriraj (iznimka je navigacija koja je na vrhu uredno poredana), a sporedne stvari stavi uz rubove  Proximity – text and images and features that are associated should be placed closely together npr. Kartica s receptom ima sliku, sažetak, ime i neke tagove sve unutar bordera kartice; navigacijski botuni su isto blizu jedan drugome. </vt:lpstr>
      <vt:lpstr>PowerPoint prezentacija</vt:lpstr>
      <vt:lpstr>PowerPoint prezentacija</vt:lpstr>
      <vt:lpstr>PowerPoint prezentacija</vt:lpstr>
      <vt:lpstr>PowerPoint prezentacija</vt:lpstr>
      <vt:lpstr>PowerPoint prezentacija</vt:lpstr>
      <vt:lpstr>PowerPoint prezentacija</vt:lpstr>
      <vt:lpstr>PowerPoint prezentacija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prezentacija</dc:title>
  <dc:creator>Adriana Tičina</dc:creator>
  <cp:lastModifiedBy>Adriana Tičina</cp:lastModifiedBy>
  <cp:revision>22</cp:revision>
  <dcterms:created xsi:type="dcterms:W3CDTF">2025-12-17T07:38:21Z</dcterms:created>
  <dcterms:modified xsi:type="dcterms:W3CDTF">2025-12-17T18:01:02Z</dcterms:modified>
</cp:coreProperties>
</file>